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64" r:id="rId3"/>
    <p:sldId id="257" r:id="rId5"/>
    <p:sldId id="265" r:id="rId6"/>
    <p:sldId id="266" r:id="rId7"/>
    <p:sldId id="268" r:id="rId8"/>
    <p:sldId id="270" r:id="rId9"/>
    <p:sldId id="258" r:id="rId10"/>
    <p:sldId id="271" r:id="rId11"/>
    <p:sldId id="273" r:id="rId12"/>
    <p:sldId id="259" r:id="rId13"/>
    <p:sldId id="274" r:id="rId14"/>
    <p:sldId id="260" r:id="rId15"/>
    <p:sldId id="269" r:id="rId16"/>
    <p:sldId id="291" r:id="rId17"/>
    <p:sldId id="272" r:id="rId18"/>
    <p:sldId id="290" r:id="rId19"/>
    <p:sldId id="261" r:id="rId20"/>
    <p:sldId id="262" r:id="rId21"/>
    <p:sldId id="263" r:id="rId22"/>
    <p:sldId id="275" r:id="rId23"/>
    <p:sldId id="278" r:id="rId24"/>
    <p:sldId id="279" r:id="rId25"/>
    <p:sldId id="280" r:id="rId26"/>
    <p:sldId id="281" r:id="rId27"/>
    <p:sldId id="282" r:id="rId28"/>
    <p:sldId id="283" r:id="rId29"/>
    <p:sldId id="284" r:id="rId30"/>
    <p:sldId id="285" r:id="rId31"/>
    <p:sldId id="286" r:id="rId32"/>
    <p:sldId id="287" r:id="rId33"/>
    <p:sldId id="276" r:id="rId34"/>
    <p:sldId id="277" r:id="rId35"/>
    <p:sldId id="288"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955" autoAdjust="0"/>
    <p:restoredTop sz="93316" autoAdjust="0"/>
  </p:normalViewPr>
  <p:slideViewPr>
    <p:cSldViewPr snapToGrid="0">
      <p:cViewPr varScale="1">
        <p:scale>
          <a:sx n="62" d="100"/>
          <a:sy n="62" d="100"/>
        </p:scale>
        <p:origin x="62" y="37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9" Type="http://schemas.openxmlformats.org/officeDocument/2006/relationships/tableStyles" Target="tableStyles.xml"/><Relationship Id="rId38" Type="http://schemas.openxmlformats.org/officeDocument/2006/relationships/viewProps" Target="viewProps.xml"/><Relationship Id="rId37" Type="http://schemas.openxmlformats.org/officeDocument/2006/relationships/presProps" Target="presProps.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BBCE3B4-AA14-4A45-BF75-B936076EC36D}" type="datetimeFigureOut">
              <a:rPr lang="en-IN" smtClean="0"/>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509200-DF0B-4151-984D-6C078C81C4AF}" type="slidenum">
              <a:rPr lang="en-IN" smtClean="0"/>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9024B94-E60F-4B01-BD31-77B4B72F8FA6}" type="slidenum">
              <a:rPr lang="en-IN" smtClean="0"/>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3509200-DF0B-4151-984D-6C078C81C4AF}" type="slidenum">
              <a:rPr lang="en-IN" smtClean="0"/>
            </a:fld>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3509200-DF0B-4151-984D-6C078C81C4AF}" type="slidenum">
              <a:rPr lang="en-IN" smtClean="0"/>
            </a:fld>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3509200-DF0B-4151-984D-6C078C81C4AF}" type="slidenum">
              <a:rPr lang="en-IN" smtClean="0"/>
            </a:fld>
            <a:endParaRPr lang="en-I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3509200-DF0B-4151-984D-6C078C81C4AF}" type="slidenum">
              <a:rPr lang="en-IN" smtClean="0"/>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7F1537A9-4458-4223-B8D2-7B761F27230B}"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D76C30-93E4-4BE7-A305-E79963B1B5D7}" type="slidenum">
              <a:rPr lang="en-IN" smtClean="0"/>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7F1537A9-4458-4223-B8D2-7B761F27230B}"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D76C30-93E4-4BE7-A305-E79963B1B5D7}" type="slidenum">
              <a:rPr lang="en-IN" smtClean="0"/>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7F1537A9-4458-4223-B8D2-7B761F27230B}"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D76C30-93E4-4BE7-A305-E79963B1B5D7}"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lstStyle/>
          <a:p>
            <a:fld id="{7F1537A9-4458-4223-B8D2-7B761F27230B}"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9D76C30-93E4-4BE7-A305-E79963B1B5D7}"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lstStyle/>
          <a:p>
            <a:fld id="{7F1537A9-4458-4223-B8D2-7B761F27230B}"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9D76C30-93E4-4BE7-A305-E79963B1B5D7}"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7F1537A9-4458-4223-B8D2-7B761F27230B}" type="datetimeFigureOut">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9D76C30-93E4-4BE7-A305-E79963B1B5D7}"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F1537A9-4458-4223-B8D2-7B761F27230B}" type="datetimeFigureOut">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9D76C30-93E4-4BE7-A305-E79963B1B5D7}"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7F1537A9-4458-4223-B8D2-7B761F27230B}"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9D76C30-93E4-4BE7-A305-E79963B1B5D7}"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7F1537A9-4458-4223-B8D2-7B761F27230B}"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9D76C30-93E4-4BE7-A305-E79963B1B5D7}"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7F1537A9-4458-4223-B8D2-7B761F27230B}"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D76C30-93E4-4BE7-A305-E79963B1B5D7}"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7F1537A9-4458-4223-B8D2-7B761F27230B}"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D76C30-93E4-4BE7-A305-E79963B1B5D7}"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F1537A9-4458-4223-B8D2-7B761F27230B}" type="datetimeFigureOut">
              <a:rPr lang="en-IN" smtClean="0"/>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9D76C30-93E4-4BE7-A305-E79963B1B5D7}"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6.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0.png"/><Relationship Id="rId1" Type="http://schemas.openxmlformats.org/officeDocument/2006/relationships/image" Target="../media/image9.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80768"/>
            <a:ext cx="9144000" cy="1346866"/>
          </a:xfrm>
        </p:spPr>
        <p:txBody>
          <a:bodyPr/>
          <a:lstStyle/>
          <a:p>
            <a:r>
              <a:rPr lang="en-IN" dirty="0"/>
              <a:t>DH 307</a:t>
            </a:r>
            <a:endParaRPr lang="en-IN" dirty="0"/>
          </a:p>
        </p:txBody>
      </p:sp>
      <p:sp>
        <p:nvSpPr>
          <p:cNvPr id="3" name="Subtitle 2"/>
          <p:cNvSpPr>
            <a:spLocks noGrp="1"/>
          </p:cNvSpPr>
          <p:nvPr>
            <p:ph type="subTitle" idx="1"/>
          </p:nvPr>
        </p:nvSpPr>
        <p:spPr>
          <a:xfrm>
            <a:off x="1428670" y="2806840"/>
            <a:ext cx="9954948" cy="2479855"/>
          </a:xfrm>
        </p:spPr>
        <p:txBody>
          <a:bodyPr>
            <a:normAutofit/>
          </a:bodyPr>
          <a:lstStyle/>
          <a:p>
            <a:r>
              <a:rPr lang="en-IN" sz="4800" b="1" dirty="0"/>
              <a:t>Oral Health Project</a:t>
            </a:r>
            <a:endParaRPr lang="en-IN" sz="4800" b="1" dirty="0"/>
          </a:p>
        </p:txBody>
      </p:sp>
      <p:sp>
        <p:nvSpPr>
          <p:cNvPr id="5" name="TextBox 4"/>
          <p:cNvSpPr txBox="1"/>
          <p:nvPr/>
        </p:nvSpPr>
        <p:spPr>
          <a:xfrm>
            <a:off x="9819861" y="5902519"/>
            <a:ext cx="2252870" cy="707886"/>
          </a:xfrm>
          <a:prstGeom prst="rect">
            <a:avLst/>
          </a:prstGeom>
          <a:noFill/>
        </p:spPr>
        <p:txBody>
          <a:bodyPr wrap="square">
            <a:spAutoFit/>
          </a:bodyPr>
          <a:lstStyle/>
          <a:p>
            <a:r>
              <a:rPr lang="en-IN" sz="2000" b="1" dirty="0"/>
              <a:t>Rehna Afroz Shaik </a:t>
            </a:r>
            <a:endParaRPr lang="en-IN" sz="2000" b="1" dirty="0"/>
          </a:p>
          <a:p>
            <a:r>
              <a:rPr lang="en-IN" sz="2000" b="1" dirty="0"/>
              <a:t>22B3932</a:t>
            </a:r>
            <a:endParaRPr lang="en-IN" sz="20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96347" y="766107"/>
            <a:ext cx="8865704" cy="707886"/>
          </a:xfrm>
          <a:prstGeom prst="rect">
            <a:avLst/>
          </a:prstGeom>
          <a:noFill/>
        </p:spPr>
        <p:txBody>
          <a:bodyPr wrap="square">
            <a:spAutoFit/>
          </a:bodyPr>
          <a:lstStyle/>
          <a:p>
            <a:r>
              <a:rPr lang="en-US" sz="4000" dirty="0"/>
              <a:t>Problem Statement</a:t>
            </a:r>
            <a:endParaRPr lang="en-US" sz="4000" dirty="0"/>
          </a:p>
        </p:txBody>
      </p:sp>
      <p:sp>
        <p:nvSpPr>
          <p:cNvPr id="7" name="TextBox 6"/>
          <p:cNvSpPr txBox="1"/>
          <p:nvPr/>
        </p:nvSpPr>
        <p:spPr>
          <a:xfrm>
            <a:off x="596347" y="3244334"/>
            <a:ext cx="6096000" cy="3785652"/>
          </a:xfrm>
          <a:prstGeom prst="rect">
            <a:avLst/>
          </a:prstGeom>
        </p:spPr>
        <p:txBody>
          <a:bodyPr wrap="square">
            <a:spAutoFit/>
          </a:bodyPr>
          <a:lstStyle/>
          <a:p>
            <a:r>
              <a:rPr lang="en-US" sz="4000" dirty="0"/>
              <a:t>Goal</a:t>
            </a:r>
            <a:endParaRPr lang="en-US" sz="4000" dirty="0"/>
          </a:p>
          <a:p>
            <a:endParaRPr lang="en-US" sz="4000" dirty="0"/>
          </a:p>
          <a:p>
            <a:pPr marL="571500" indent="-571500">
              <a:buFont typeface="Arial" panose="020B0604020202020204" pitchFamily="34" charset="0"/>
              <a:buChar char="•"/>
            </a:pPr>
            <a:endParaRPr lang="en-US" sz="2000" dirty="0"/>
          </a:p>
          <a:p>
            <a:endParaRPr lang="en-US" sz="4000" dirty="0"/>
          </a:p>
          <a:p>
            <a:pPr marL="342900" indent="-342900">
              <a:buFont typeface="Arial" panose="020B0604020202020204" pitchFamily="34" charset="0"/>
              <a:buChar char="•"/>
            </a:pPr>
            <a:endParaRPr lang="en-US" sz="2000" dirty="0"/>
          </a:p>
          <a:p>
            <a:endParaRPr lang="en-US" sz="2000" dirty="0"/>
          </a:p>
          <a:p>
            <a:endParaRPr lang="en-US" sz="2000" dirty="0"/>
          </a:p>
          <a:p>
            <a:endParaRPr lang="en-US" sz="4000" dirty="0"/>
          </a:p>
        </p:txBody>
      </p:sp>
      <p:sp>
        <p:nvSpPr>
          <p:cNvPr id="9" name="TextBox 8"/>
          <p:cNvSpPr txBox="1"/>
          <p:nvPr/>
        </p:nvSpPr>
        <p:spPr>
          <a:xfrm>
            <a:off x="596347" y="1473993"/>
            <a:ext cx="10124662" cy="1323439"/>
          </a:xfrm>
          <a:prstGeom prst="rect">
            <a:avLst/>
          </a:prstGeom>
          <a:noFill/>
        </p:spPr>
        <p:txBody>
          <a:bodyPr wrap="square">
            <a:spAutoFit/>
          </a:bodyPr>
          <a:lstStyle/>
          <a:p>
            <a:endParaRPr lang="en-US" sz="2000" b="1" dirty="0"/>
          </a:p>
          <a:p>
            <a:pPr marL="285750" indent="-285750">
              <a:buFont typeface="Arial" panose="020B0604020202020204" pitchFamily="34" charset="0"/>
              <a:buChar char="•"/>
            </a:pPr>
            <a:r>
              <a:rPr lang="en-US" sz="2000" b="1" dirty="0"/>
              <a:t>For detection of various oral pathologies like oral pre-cancerous lesions, caries, gingivitis, etc., it is required to identify various position, type of teeth, lesions </a:t>
            </a:r>
            <a:r>
              <a:rPr lang="en-US" sz="2000" b="1" dirty="0" err="1"/>
              <a:t>etc</a:t>
            </a:r>
            <a:r>
              <a:rPr lang="en-US" sz="2000" b="1" dirty="0"/>
              <a:t>, and identify any features required for better predictions. </a:t>
            </a:r>
            <a:endParaRPr lang="en-IN" sz="2000" b="1" dirty="0"/>
          </a:p>
        </p:txBody>
      </p:sp>
      <p:sp>
        <p:nvSpPr>
          <p:cNvPr id="10" name="TextBox 9"/>
          <p:cNvSpPr txBox="1"/>
          <p:nvPr/>
        </p:nvSpPr>
        <p:spPr>
          <a:xfrm>
            <a:off x="596347" y="3829736"/>
            <a:ext cx="10641496" cy="1631216"/>
          </a:xfrm>
          <a:prstGeom prst="rect">
            <a:avLst/>
          </a:prstGeom>
          <a:noFill/>
        </p:spPr>
        <p:txBody>
          <a:bodyPr wrap="square">
            <a:spAutoFit/>
          </a:bodyPr>
          <a:lstStyle/>
          <a:p>
            <a:endParaRPr lang="en-US" sz="2000" b="1" dirty="0"/>
          </a:p>
          <a:p>
            <a:pPr marL="285750" indent="-285750">
              <a:buFont typeface="Arial" panose="020B0604020202020204" pitchFamily="34" charset="0"/>
              <a:buChar char="•"/>
            </a:pPr>
            <a:r>
              <a:rPr lang="en-US" sz="2000" b="1" dirty="0"/>
              <a:t>Fine-tune various state-of-the-art classification models on the given OPMD dataset</a:t>
            </a:r>
            <a:endParaRPr lang="en-US" sz="2000" b="1" dirty="0"/>
          </a:p>
          <a:p>
            <a:pPr marL="285750" indent="-285750">
              <a:buFont typeface="Arial" panose="020B0604020202020204" pitchFamily="34" charset="0"/>
              <a:buChar char="•"/>
            </a:pPr>
            <a:r>
              <a:rPr lang="en-US" sz="2000" b="1" dirty="0"/>
              <a:t>Compare and evaluate the different models and identify the best one for identifying the  pathology type of the oral cavity image</a:t>
            </a:r>
            <a:endParaRPr lang="en-US" sz="2000" b="1" dirty="0"/>
          </a:p>
          <a:p>
            <a:endParaRPr lang="en-IN" sz="2000"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22776" y="352933"/>
            <a:ext cx="10515600" cy="1325563"/>
          </a:xfrm>
        </p:spPr>
        <p:txBody>
          <a:bodyPr/>
          <a:lstStyle/>
          <a:p>
            <a:r>
              <a:rPr lang="en-IN" b="1" dirty="0"/>
              <a:t>Literature Review</a:t>
            </a:r>
            <a:endParaRPr lang="en-IN" b="1" dirty="0"/>
          </a:p>
        </p:txBody>
      </p:sp>
      <p:sp>
        <p:nvSpPr>
          <p:cNvPr id="3" name="Content Placeholder 2"/>
          <p:cNvSpPr>
            <a:spLocks noGrp="1"/>
          </p:cNvSpPr>
          <p:nvPr>
            <p:ph idx="1"/>
          </p:nvPr>
        </p:nvSpPr>
        <p:spPr/>
        <p:txBody>
          <a:bodyPr/>
          <a:lstStyle/>
          <a:p>
            <a:r>
              <a:rPr lang="en-IN" dirty="0"/>
              <a:t>Paper: </a:t>
            </a:r>
            <a:endParaRPr lang="en-IN" dirty="0"/>
          </a:p>
          <a:p>
            <a:pPr marL="0" indent="0">
              <a:buNone/>
            </a:pPr>
            <a:endParaRPr lang="en-IN" dirty="0"/>
          </a:p>
          <a:p>
            <a:pPr marL="0" indent="0">
              <a:buNone/>
            </a:pPr>
            <a:r>
              <a:rPr lang="en-IN" dirty="0">
                <a:latin typeface="Arial Black" panose="020B0A04020102020204" pitchFamily="34" charset="0"/>
              </a:rPr>
              <a:t>Screening of oral potentially malignant disorders and oral cancer using deep learning models </a:t>
            </a:r>
            <a:endParaRPr lang="en-IN" dirty="0">
              <a:latin typeface="Arial Black" panose="020B0A04020102020204" pitchFamily="34" charset="0"/>
            </a:endParaRPr>
          </a:p>
          <a:p>
            <a:pPr marL="0" indent="0">
              <a:buNone/>
            </a:pPr>
            <a:r>
              <a:rPr lang="en-IN" sz="2000" dirty="0"/>
              <a:t>Karishma Madhusudan Desai1,2, Pragya Singh 2, Mahima Smriti2, VivekTalwar3, Manav Chaudhary2, George Paul2, Subhas Chandra Kolli2, Parisa Sai Raghava2, Golla Vamshi Krishna2, C. V. Jawahar3, P. </a:t>
            </a:r>
            <a:r>
              <a:rPr lang="en-IN" sz="2000" dirty="0" err="1"/>
              <a:t>K.Vinod</a:t>
            </a:r>
            <a:r>
              <a:rPr lang="en-IN" sz="2000" dirty="0"/>
              <a:t> 4,5, Varma Konala2,6 &amp; Ramanathan Sethuraman6</a:t>
            </a:r>
            <a:endParaRPr lang="en-IN" sz="2000" dirty="0"/>
          </a:p>
          <a:p>
            <a:pPr marL="0" indent="0">
              <a:buNone/>
            </a:pPr>
            <a:r>
              <a:rPr lang="en-IN" sz="2400" dirty="0"/>
              <a:t>Published: 23 May 2025</a:t>
            </a:r>
            <a:endParaRPr lang="en-IN" sz="2400" dirty="0"/>
          </a:p>
          <a:p>
            <a:pPr marL="0" indent="0">
              <a:buNone/>
            </a:pPr>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p:cNvSpPr>
            <a:spLocks noGrp="1" noChangeArrowheads="1"/>
          </p:cNvSpPr>
          <p:nvPr>
            <p:ph idx="1"/>
          </p:nvPr>
        </p:nvSpPr>
        <p:spPr bwMode="auto">
          <a:xfrm>
            <a:off x="286370" y="248426"/>
            <a:ext cx="11808093"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eaLnBrk="0" fontAlgn="base" hangingPunct="0">
              <a:lnSpc>
                <a:spcPct val="100000"/>
              </a:lnSpc>
              <a:spcBef>
                <a:spcPct val="0"/>
              </a:spcBef>
              <a:spcAft>
                <a:spcPct val="0"/>
              </a:spcAft>
              <a:buNone/>
            </a:pPr>
            <a:r>
              <a:rPr lang="en-IN" sz="2000" b="1" dirty="0"/>
              <a:t>Background &amp; Motivation</a:t>
            </a:r>
            <a:endParaRPr lang="en-IN" sz="2000" b="1" dirty="0"/>
          </a:p>
          <a:p>
            <a:pPr marL="0" indent="0" eaLnBrk="0" fontAlgn="base" hangingPunct="0">
              <a:lnSpc>
                <a:spcPct val="100000"/>
              </a:lnSpc>
              <a:spcBef>
                <a:spcPct val="0"/>
              </a:spcBef>
              <a:spcAft>
                <a:spcPct val="0"/>
              </a:spcAft>
              <a:buNone/>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457200" lvl="1" indent="0" eaLnBrk="0" fontAlgn="base" hangingPunct="0">
              <a:lnSpc>
                <a:spcPct val="100000"/>
              </a:lnSpc>
              <a:spcBef>
                <a:spcPct val="0"/>
              </a:spcBef>
              <a:spcAft>
                <a:spcPct val="0"/>
              </a:spcAft>
              <a:buFontTx/>
              <a:buChar char="•"/>
            </a:pPr>
            <a:r>
              <a:rPr lang="en-US" sz="2000" b="1" dirty="0"/>
              <a:t>Oral cancer rates remain high in low- and middle-income countries, largely due to late diagnoses</a:t>
            </a:r>
            <a:endParaRPr lang="en-US" sz="2000" b="1" dirty="0"/>
          </a:p>
          <a:p>
            <a:pPr marL="457200" lvl="1" indent="0" eaLnBrk="0" fontAlgn="base" hangingPunct="0">
              <a:lnSpc>
                <a:spcPct val="100000"/>
              </a:lnSpc>
              <a:spcBef>
                <a:spcPct val="0"/>
              </a:spcBef>
              <a:spcAft>
                <a:spcPct val="0"/>
              </a:spcAft>
              <a:buFontTx/>
              <a:buChar char="•"/>
            </a:pPr>
            <a:r>
              <a:rPr lang="en-US" sz="2000" b="1" dirty="0"/>
              <a:t>Oral potentially malignant disorders (OPMDs) often precede cancer but are frequently undetected</a:t>
            </a:r>
            <a:endParaRPr lang="en-US" sz="2000" b="1" dirty="0"/>
          </a:p>
          <a:p>
            <a:pPr marL="457200" lvl="1" indent="0" eaLnBrk="0" fontAlgn="base" hangingPunct="0">
              <a:lnSpc>
                <a:spcPct val="100000"/>
              </a:lnSpc>
              <a:spcBef>
                <a:spcPct val="0"/>
              </a:spcBef>
              <a:spcAft>
                <a:spcPct val="0"/>
              </a:spcAft>
              <a:buFontTx/>
              <a:buChar char="•"/>
            </a:pPr>
            <a:r>
              <a:rPr lang="en-US" sz="2000" b="1" dirty="0"/>
              <a:t>There is a need for automated, easy-to-use, point-of-care screening tools, particularly in resource-limited settings</a:t>
            </a:r>
            <a:endParaRPr kumimoji="0" lang="en-US" altLang="en-US" sz="2000" b="1" i="0" u="none" strike="noStrike" cap="none" normalizeH="0" baseline="0" dirty="0">
              <a:ln>
                <a:noFill/>
              </a:ln>
              <a:solidFill>
                <a:schemeClr val="tx1"/>
              </a:solidFill>
              <a:effectLst/>
              <a:latin typeface="Arial" panose="020B0604020202020204" pitchFamily="34" charset="0"/>
            </a:endParaRPr>
          </a:p>
        </p:txBody>
      </p:sp>
      <p:sp>
        <p:nvSpPr>
          <p:cNvPr id="8" name="TextBox 7"/>
          <p:cNvSpPr txBox="1"/>
          <p:nvPr/>
        </p:nvSpPr>
        <p:spPr>
          <a:xfrm>
            <a:off x="235950" y="2639488"/>
            <a:ext cx="11720099" cy="1631216"/>
          </a:xfrm>
          <a:prstGeom prst="rect">
            <a:avLst/>
          </a:prstGeom>
          <a:noFill/>
        </p:spPr>
        <p:txBody>
          <a:bodyPr wrap="square">
            <a:spAutoFit/>
          </a:bodyPr>
          <a:lstStyle/>
          <a:p>
            <a:pPr eaLnBrk="0" fontAlgn="base" hangingPunct="0">
              <a:spcBef>
                <a:spcPct val="0"/>
              </a:spcBef>
              <a:spcAft>
                <a:spcPct val="0"/>
              </a:spcAft>
            </a:pPr>
            <a:r>
              <a:rPr lang="en-IN" sz="2000" b="1" dirty="0"/>
              <a:t>Objective</a:t>
            </a:r>
            <a:endParaRPr lang="en-IN" sz="2000" b="1" dirty="0"/>
          </a:p>
          <a:p>
            <a:pPr eaLnBrk="0" fontAlgn="base" hangingPunct="0">
              <a:spcBef>
                <a:spcPct val="0"/>
              </a:spcBef>
              <a:spcAft>
                <a:spcPct val="0"/>
              </a:spcAft>
            </a:pPr>
            <a:endParaRPr lang="en-US" sz="2000" b="1" dirty="0"/>
          </a:p>
          <a:p>
            <a:pPr lvl="1" eaLnBrk="0" fontAlgn="base" hangingPunct="0">
              <a:spcBef>
                <a:spcPct val="0"/>
              </a:spcBef>
              <a:spcAft>
                <a:spcPct val="0"/>
              </a:spcAft>
              <a:buFontTx/>
              <a:buChar char="•"/>
            </a:pPr>
            <a:r>
              <a:rPr lang="en-US" sz="2000" b="1" dirty="0"/>
              <a:t>Evaluate AI-driven screening tools for detecting OPMDs and oral cancers using images captured via smartphones</a:t>
            </a:r>
            <a:endParaRPr lang="en-US" sz="2000" b="1" dirty="0"/>
          </a:p>
          <a:p>
            <a:pPr lvl="1" eaLnBrk="0" fontAlgn="base" hangingPunct="0">
              <a:spcBef>
                <a:spcPct val="0"/>
              </a:spcBef>
              <a:spcAft>
                <a:spcPct val="0"/>
              </a:spcAft>
              <a:buFontTx/>
              <a:buChar char="•"/>
            </a:pPr>
            <a:r>
              <a:rPr lang="en-US" sz="2000" b="1" dirty="0"/>
              <a:t>Investigate deployment in two scenarios: cloud-based web apps and native mobile (on-device) apps</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
        <p:nvSpPr>
          <p:cNvPr id="14" name="TextBox 13"/>
          <p:cNvSpPr txBox="1"/>
          <p:nvPr/>
        </p:nvSpPr>
        <p:spPr>
          <a:xfrm>
            <a:off x="286371" y="4848045"/>
            <a:ext cx="11468307" cy="1323439"/>
          </a:xfrm>
          <a:prstGeom prst="rect">
            <a:avLst/>
          </a:prstGeom>
          <a:noFill/>
        </p:spPr>
        <p:txBody>
          <a:bodyPr wrap="square">
            <a:spAutoFit/>
          </a:bodyPr>
          <a:lstStyle/>
          <a:p>
            <a:pPr eaLnBrk="0" fontAlgn="base" hangingPunct="0">
              <a:spcBef>
                <a:spcPct val="0"/>
              </a:spcBef>
              <a:spcAft>
                <a:spcPct val="0"/>
              </a:spcAft>
            </a:pPr>
            <a:r>
              <a:rPr lang="en-IN" sz="2000" b="1" dirty="0"/>
              <a:t>Dataset &amp; Annotation</a:t>
            </a:r>
            <a:endParaRPr lang="en-IN" sz="2000" b="1" dirty="0"/>
          </a:p>
          <a:p>
            <a:pPr eaLnBrk="0" fontAlgn="base" hangingPunct="0">
              <a:spcBef>
                <a:spcPct val="0"/>
              </a:spcBef>
              <a:spcAft>
                <a:spcPct val="0"/>
              </a:spcAft>
            </a:pPr>
            <a:endParaRPr lang="en-US" sz="2000" b="1" dirty="0"/>
          </a:p>
          <a:p>
            <a:pPr lvl="1" eaLnBrk="0" fontAlgn="base" hangingPunct="0">
              <a:spcBef>
                <a:spcPct val="0"/>
              </a:spcBef>
              <a:spcAft>
                <a:spcPct val="0"/>
              </a:spcAft>
              <a:buFontTx/>
              <a:buChar char="•"/>
            </a:pPr>
            <a:r>
              <a:rPr lang="en-US" sz="2000" dirty="0"/>
              <a:t> </a:t>
            </a:r>
            <a:r>
              <a:rPr lang="en-US" sz="2000" b="1" dirty="0"/>
              <a:t>Utilized </a:t>
            </a:r>
            <a:r>
              <a:rPr lang="en-IN" sz="2000" b="1" dirty="0"/>
              <a:t>Grace </a:t>
            </a:r>
            <a:r>
              <a:rPr lang="en-US" sz="2000" b="1" dirty="0"/>
              <a:t>dataset of 518 intraoral images, annotated as "suspicious" or "non-suspicious"</a:t>
            </a:r>
            <a:endParaRPr lang="en-US" sz="2000" b="1" dirty="0"/>
          </a:p>
          <a:p>
            <a:pPr lvl="1" eaLnBrk="0" fontAlgn="base" hangingPunct="0">
              <a:spcBef>
                <a:spcPct val="0"/>
              </a:spcBef>
              <a:spcAft>
                <a:spcPct val="0"/>
              </a:spcAft>
              <a:buFontTx/>
              <a:buChar char="•"/>
            </a:pPr>
            <a:r>
              <a:rPr lang="en-US" sz="2000" b="1" dirty="0"/>
              <a:t> Standardized protocols were followed for lesion annotation and classification</a:t>
            </a:r>
            <a:endParaRPr kumimoji="0" lang="en-US" altLang="en-US" sz="2000" b="1"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20148" y="460651"/>
            <a:ext cx="10515600" cy="1209123"/>
          </a:xfrm>
        </p:spPr>
        <p:txBody>
          <a:bodyPr/>
          <a:lstStyle/>
          <a:p>
            <a:pPr marL="0" indent="0">
              <a:buNone/>
            </a:pPr>
            <a:r>
              <a:rPr lang="en-IN" sz="2000" b="1" dirty="0"/>
              <a:t>Models Evaluated</a:t>
            </a:r>
            <a:endParaRPr lang="en-IN" sz="2000" b="1" dirty="0"/>
          </a:p>
        </p:txBody>
      </p:sp>
      <p:sp>
        <p:nvSpPr>
          <p:cNvPr id="5" name="TextBox 4"/>
          <p:cNvSpPr txBox="1"/>
          <p:nvPr/>
        </p:nvSpPr>
        <p:spPr>
          <a:xfrm>
            <a:off x="520148" y="1826281"/>
            <a:ext cx="11327295" cy="4401205"/>
          </a:xfrm>
          <a:prstGeom prst="rect">
            <a:avLst/>
          </a:prstGeom>
          <a:noFill/>
        </p:spPr>
        <p:txBody>
          <a:bodyPr wrap="square">
            <a:spAutoFit/>
          </a:bodyPr>
          <a:lstStyle/>
          <a:p>
            <a:r>
              <a:rPr lang="en-IN" sz="2000" b="1" dirty="0"/>
              <a:t>Key Results</a:t>
            </a:r>
            <a:endParaRPr lang="en-IN" sz="2000" b="1" dirty="0"/>
          </a:p>
          <a:p>
            <a:endParaRPr lang="en-IN" sz="2000" b="1" dirty="0"/>
          </a:p>
          <a:p>
            <a:pPr lvl="1"/>
            <a:r>
              <a:rPr lang="en-IN" sz="2000" b="1" dirty="0"/>
              <a:t>DenseNet-201</a:t>
            </a:r>
            <a:r>
              <a:rPr lang="en-IN" sz="2000" dirty="0"/>
              <a:t>:</a:t>
            </a:r>
            <a:endParaRPr lang="en-IN" sz="2000" dirty="0"/>
          </a:p>
          <a:p>
            <a:pPr lvl="2"/>
            <a:r>
              <a:rPr lang="en-IN" sz="2000" b="1" dirty="0"/>
              <a:t>F1 score: 0.875</a:t>
            </a:r>
            <a:endParaRPr lang="en-IN" sz="2000" b="1" dirty="0"/>
          </a:p>
          <a:p>
            <a:pPr lvl="2"/>
            <a:r>
              <a:rPr lang="en-IN" sz="2000" b="1" dirty="0"/>
              <a:t>AUC (Area Under Curve): 0.97</a:t>
            </a:r>
            <a:endParaRPr lang="en-IN" sz="2000" b="1" dirty="0"/>
          </a:p>
          <a:p>
            <a:pPr lvl="2"/>
            <a:r>
              <a:rPr lang="en-IN" sz="2000" b="1" dirty="0"/>
              <a:t>Overall accuracy: 88.6%</a:t>
            </a:r>
            <a:endParaRPr lang="en-IN" sz="2000" b="1" dirty="0"/>
          </a:p>
          <a:p>
            <a:pPr lvl="2"/>
            <a:endParaRPr lang="en-IN" sz="2000" dirty="0"/>
          </a:p>
          <a:p>
            <a:pPr lvl="1"/>
            <a:r>
              <a:rPr lang="en-IN" sz="2000" b="1" dirty="0" err="1"/>
              <a:t>FixCaps</a:t>
            </a:r>
            <a:r>
              <a:rPr lang="en-IN" sz="2000" dirty="0"/>
              <a:t>:</a:t>
            </a:r>
            <a:endParaRPr lang="en-IN" sz="2000" dirty="0"/>
          </a:p>
          <a:p>
            <a:pPr lvl="2"/>
            <a:r>
              <a:rPr lang="en-IN" sz="2000" b="1" dirty="0"/>
              <a:t>F1 score: 0.828</a:t>
            </a:r>
            <a:endParaRPr lang="en-IN" sz="2000" b="1" dirty="0"/>
          </a:p>
          <a:p>
            <a:pPr lvl="2"/>
            <a:r>
              <a:rPr lang="en-IN" sz="2000" b="1" dirty="0"/>
              <a:t>AUC: 0.93</a:t>
            </a:r>
            <a:endParaRPr lang="en-IN" sz="2000" b="1" dirty="0"/>
          </a:p>
          <a:p>
            <a:pPr lvl="2"/>
            <a:r>
              <a:rPr lang="en-IN" sz="2000" b="1" dirty="0"/>
              <a:t>Accuracy: 83.8%</a:t>
            </a:r>
            <a:endParaRPr lang="en-IN" sz="2000" b="1" dirty="0"/>
          </a:p>
          <a:p>
            <a:pPr lvl="2"/>
            <a:endParaRPr lang="en-IN" sz="2000" dirty="0"/>
          </a:p>
          <a:p>
            <a:pPr marL="742950" lvl="1" indent="-285750">
              <a:buFont typeface="Arial" panose="020B0604020202020204" pitchFamily="34" charset="0"/>
              <a:buChar char="•"/>
            </a:pPr>
            <a:r>
              <a:rPr lang="en-IN" sz="2000" b="1" dirty="0"/>
              <a:t>DenseNet-201 is ideal for cloud deployment; </a:t>
            </a:r>
            <a:r>
              <a:rPr lang="en-IN" sz="2000" b="1" dirty="0" err="1"/>
              <a:t>FixCaps</a:t>
            </a:r>
            <a:r>
              <a:rPr lang="en-IN" sz="2000" b="1" dirty="0"/>
              <a:t> is suitable for on-device, mobile-based screening due to its smaller size</a:t>
            </a:r>
            <a:endParaRPr lang="en-IN" sz="2000" b="1" dirty="0"/>
          </a:p>
        </p:txBody>
      </p:sp>
      <p:sp>
        <p:nvSpPr>
          <p:cNvPr id="4" name="TextBox 3"/>
          <p:cNvSpPr txBox="1"/>
          <p:nvPr/>
        </p:nvSpPr>
        <p:spPr>
          <a:xfrm>
            <a:off x="520148" y="917740"/>
            <a:ext cx="11001292" cy="646331"/>
          </a:xfrm>
          <a:prstGeom prst="rect">
            <a:avLst/>
          </a:prstGeom>
          <a:noFill/>
        </p:spPr>
        <p:txBody>
          <a:bodyPr wrap="square">
            <a:spAutoFit/>
          </a:bodyPr>
          <a:lstStyle/>
          <a:p>
            <a:pPr marL="742950" lvl="1" indent="-285750">
              <a:buFont typeface="Arial" panose="020B0604020202020204" pitchFamily="34" charset="0"/>
              <a:buChar char="•"/>
            </a:pPr>
            <a:r>
              <a:rPr lang="en-IN" b="1" dirty="0"/>
              <a:t>DenseNet-201: A powerful pre-trained convolutional neural network (~20 million parameters)</a:t>
            </a:r>
            <a:endParaRPr lang="en-IN" b="1" dirty="0"/>
          </a:p>
          <a:p>
            <a:pPr marL="742950" lvl="1" indent="-285750">
              <a:buFont typeface="Arial" panose="020B0604020202020204" pitchFamily="34" charset="0"/>
              <a:buChar char="•"/>
            </a:pPr>
            <a:r>
              <a:rPr lang="en-IN" b="1" dirty="0" err="1"/>
              <a:t>FixCaps</a:t>
            </a:r>
            <a:r>
              <a:rPr lang="en-IN" b="1" dirty="0"/>
              <a:t>: A lightweight capsule network variant (~0.83 million parameters), trained from scratch</a:t>
            </a:r>
            <a:endParaRPr lang="en-IN" b="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IN" dirty="0"/>
              <a:t>Paper: </a:t>
            </a:r>
            <a:endParaRPr lang="en-IN" dirty="0"/>
          </a:p>
          <a:p>
            <a:pPr marL="0" indent="0">
              <a:buNone/>
            </a:pPr>
            <a:endParaRPr lang="en-IN" dirty="0"/>
          </a:p>
          <a:p>
            <a:pPr marL="0" indent="0">
              <a:buNone/>
            </a:pPr>
            <a:r>
              <a:rPr lang="en-US" b="1" dirty="0">
                <a:latin typeface="Arial Black" panose="020B0A04020102020204" pitchFamily="34" charset="0"/>
              </a:rPr>
              <a:t>Classification of Oral Potentially Malignant Disorders Using Multimodal Feature Integration</a:t>
            </a:r>
            <a:endParaRPr lang="en-US" b="1" dirty="0">
              <a:latin typeface="Arial Black" panose="020B0A04020102020204" pitchFamily="34" charset="0"/>
            </a:endParaRPr>
          </a:p>
          <a:p>
            <a:pPr marL="0" indent="0">
              <a:buNone/>
            </a:pPr>
            <a:r>
              <a:rPr lang="en-IN" sz="2000" dirty="0"/>
              <a:t>Buddhadev Goswami†1 Susmit Neogi†2 Saurabh Nagar3 Nirmal Punjabi1 Ravindra Gudi4</a:t>
            </a:r>
            <a:endParaRPr lang="en-IN" sz="2000" dirty="0"/>
          </a:p>
          <a:p>
            <a:pPr marL="0" indent="0">
              <a:buNone/>
            </a:pPr>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13360" y="541485"/>
            <a:ext cx="11765280" cy="707886"/>
          </a:xfrm>
          <a:prstGeom prst="rect">
            <a:avLst/>
          </a:prstGeom>
          <a:noFill/>
        </p:spPr>
        <p:txBody>
          <a:bodyPr wrap="square">
            <a:spAutoFit/>
          </a:bodyPr>
          <a:lstStyle/>
          <a:p>
            <a:pPr marL="342900" indent="-342900" rtl="0">
              <a:spcBef>
                <a:spcPts val="1200"/>
              </a:spcBef>
              <a:spcAft>
                <a:spcPts val="1200"/>
              </a:spcAft>
              <a:buFont typeface="Arial" panose="020B0604020202020204" pitchFamily="34" charset="0"/>
              <a:buChar char="•"/>
            </a:pPr>
            <a:r>
              <a:rPr lang="en-US" sz="2000" b="1" i="0" u="none" strike="noStrike" dirty="0">
                <a:solidFill>
                  <a:srgbClr val="000000"/>
                </a:solidFill>
                <a:effectLst/>
              </a:rPr>
              <a:t>This paper proposed a novel hybrid framework for early detection of Oral Potentially Malignant Disorders (OPMDs)</a:t>
            </a:r>
            <a:endParaRPr lang="en-US" sz="2000" b="1" i="0" u="none" strike="noStrike" dirty="0">
              <a:solidFill>
                <a:srgbClr val="000000"/>
              </a:solidFill>
              <a:effectLst/>
            </a:endParaRPr>
          </a:p>
        </p:txBody>
      </p:sp>
      <p:sp>
        <p:nvSpPr>
          <p:cNvPr id="9" name="TextBox 8"/>
          <p:cNvSpPr txBox="1"/>
          <p:nvPr/>
        </p:nvSpPr>
        <p:spPr>
          <a:xfrm>
            <a:off x="213360" y="1634312"/>
            <a:ext cx="11765280" cy="2000548"/>
          </a:xfrm>
          <a:prstGeom prst="rect">
            <a:avLst/>
          </a:prstGeom>
          <a:noFill/>
        </p:spPr>
        <p:txBody>
          <a:bodyPr wrap="square">
            <a:spAutoFit/>
          </a:bodyPr>
          <a:lstStyle/>
          <a:p>
            <a:pPr rtl="0">
              <a:buNone/>
            </a:pPr>
            <a:r>
              <a:rPr lang="en-US" sz="2400" b="1" i="0" u="none" strike="noStrike" dirty="0">
                <a:solidFill>
                  <a:srgbClr val="000000"/>
                </a:solidFill>
                <a:effectLst/>
              </a:rPr>
              <a:t>Methods</a:t>
            </a:r>
            <a:br>
              <a:rPr lang="en-US" b="1" dirty="0">
                <a:effectLst/>
              </a:rPr>
            </a:br>
            <a:endParaRPr lang="en-US" sz="2000" b="1" i="0" u="none" strike="noStrike" dirty="0">
              <a:solidFill>
                <a:srgbClr val="000000"/>
              </a:solidFill>
              <a:effectLst/>
            </a:endParaRPr>
          </a:p>
          <a:p>
            <a:pPr rtl="0" fontAlgn="base">
              <a:buFont typeface="Arial" panose="020B0604020202020204" pitchFamily="34" charset="0"/>
              <a:buChar char="•"/>
            </a:pPr>
            <a:r>
              <a:rPr lang="en-US" sz="2000" b="1" i="1" u="sng" strike="noStrike" dirty="0">
                <a:solidFill>
                  <a:srgbClr val="000000"/>
                </a:solidFill>
                <a:effectLst/>
              </a:rPr>
              <a:t> Multimodal Feature Integration</a:t>
            </a:r>
            <a:r>
              <a:rPr lang="en-US" sz="2000" b="1" i="0" u="sng" strike="noStrike" dirty="0">
                <a:solidFill>
                  <a:srgbClr val="000000"/>
                </a:solidFill>
                <a:effectLst/>
              </a:rPr>
              <a:t>:</a:t>
            </a:r>
            <a:r>
              <a:rPr lang="en-US" sz="2000" b="1" i="0" u="none" strike="noStrike" dirty="0">
                <a:solidFill>
                  <a:srgbClr val="000000"/>
                </a:solidFill>
                <a:effectLst/>
              </a:rPr>
              <a:t> This paper proposes a framework that merges standard RGB imaging with hyperspectral imaging (HSI) features. To enrich RGB data without the need for expensive equipment, a Multi-stage Spectral-wise Transformer (MST++) is employed for spectral reconstruction—even when only RGB input is available</a:t>
            </a:r>
            <a:endParaRPr lang="en-US" sz="2000" b="1" i="0" u="none" strike="noStrike" dirty="0">
              <a:solidFill>
                <a:srgbClr val="000000"/>
              </a:solidFill>
              <a:effectLst/>
            </a:endParaRPr>
          </a:p>
        </p:txBody>
      </p:sp>
      <p:sp>
        <p:nvSpPr>
          <p:cNvPr id="11" name="TextBox 10"/>
          <p:cNvSpPr txBox="1"/>
          <p:nvPr/>
        </p:nvSpPr>
        <p:spPr>
          <a:xfrm>
            <a:off x="213360" y="4019801"/>
            <a:ext cx="11612880" cy="2554545"/>
          </a:xfrm>
          <a:prstGeom prst="rect">
            <a:avLst/>
          </a:prstGeom>
          <a:noFill/>
        </p:spPr>
        <p:txBody>
          <a:bodyPr wrap="square">
            <a:spAutoFit/>
          </a:bodyPr>
          <a:lstStyle/>
          <a:p>
            <a:pPr rtl="0" fontAlgn="base">
              <a:buFont typeface="Arial" panose="020B0604020202020204" pitchFamily="34" charset="0"/>
              <a:buChar char="•"/>
            </a:pPr>
            <a:r>
              <a:rPr lang="en-US" sz="2000" b="1" i="1" u="sng" strike="noStrike" dirty="0">
                <a:solidFill>
                  <a:srgbClr val="000000"/>
                </a:solidFill>
                <a:effectLst/>
              </a:rPr>
              <a:t>Feature Engineering:</a:t>
            </a:r>
            <a:r>
              <a:rPr lang="en-US" sz="2000" b="1" i="1" u="none" strike="noStrike" dirty="0">
                <a:solidFill>
                  <a:srgbClr val="000000"/>
                </a:solidFill>
                <a:effectLst/>
              </a:rPr>
              <a:t>  </a:t>
            </a:r>
            <a:r>
              <a:rPr lang="en-US" sz="2000" b="1" i="0" u="none" strike="noStrike" dirty="0">
                <a:solidFill>
                  <a:srgbClr val="000000"/>
                </a:solidFill>
                <a:effectLst/>
              </a:rPr>
              <a:t>A diverse set of features is extracted to create a robust representation:</a:t>
            </a:r>
            <a:endParaRPr lang="en-US" sz="2000" b="1" i="0" u="none" strike="noStrike" dirty="0">
              <a:solidFill>
                <a:srgbClr val="000000"/>
              </a:solidFill>
              <a:effectLst/>
            </a:endParaRPr>
          </a:p>
          <a:p>
            <a:pPr marL="457200" rtl="0" fontAlgn="base">
              <a:buFont typeface="Arial" panose="020B0604020202020204" pitchFamily="34" charset="0"/>
              <a:buChar char="•"/>
            </a:pPr>
            <a:r>
              <a:rPr lang="en-US" sz="2000" b="1" i="0" u="none" strike="noStrike" dirty="0">
                <a:solidFill>
                  <a:srgbClr val="000000"/>
                </a:solidFill>
                <a:effectLst/>
              </a:rPr>
              <a:t>Hu Moments (shape descriptors)</a:t>
            </a:r>
            <a:endParaRPr lang="en-US" sz="2000" b="1" i="0" u="none" strike="noStrike" dirty="0">
              <a:solidFill>
                <a:srgbClr val="000000"/>
              </a:solidFill>
              <a:effectLst/>
            </a:endParaRPr>
          </a:p>
          <a:p>
            <a:pPr marL="457200" rtl="0" fontAlgn="base">
              <a:buFont typeface="Arial" panose="020B0604020202020204" pitchFamily="34" charset="0"/>
              <a:buChar char="•"/>
            </a:pPr>
            <a:r>
              <a:rPr lang="en-US" sz="2000" b="1" i="0" u="none" strike="noStrike" dirty="0">
                <a:solidFill>
                  <a:srgbClr val="000000"/>
                </a:solidFill>
                <a:effectLst/>
              </a:rPr>
              <a:t>Haar texture features</a:t>
            </a:r>
            <a:endParaRPr lang="en-US" sz="2000" b="1" i="0" u="none" strike="noStrike" dirty="0">
              <a:solidFill>
                <a:srgbClr val="000000"/>
              </a:solidFill>
              <a:effectLst/>
            </a:endParaRPr>
          </a:p>
          <a:p>
            <a:pPr marL="457200" rtl="0" fontAlgn="base">
              <a:buFont typeface="Arial" panose="020B0604020202020204" pitchFamily="34" charset="0"/>
              <a:buChar char="•"/>
            </a:pPr>
            <a:r>
              <a:rPr lang="en-US" sz="2000" b="1" i="0" u="none" strike="noStrike" dirty="0">
                <a:solidFill>
                  <a:srgbClr val="000000"/>
                </a:solidFill>
                <a:effectLst/>
              </a:rPr>
              <a:t>SIFT descriptors combined with a Bag-of-Visual-Words model</a:t>
            </a:r>
            <a:endParaRPr lang="en-US" sz="2000" b="1" i="0" u="none" strike="noStrike" dirty="0">
              <a:solidFill>
                <a:srgbClr val="000000"/>
              </a:solidFill>
              <a:effectLst/>
            </a:endParaRPr>
          </a:p>
          <a:p>
            <a:pPr marL="457200" rtl="0" fontAlgn="base">
              <a:buFont typeface="Arial" panose="020B0604020202020204" pitchFamily="34" charset="0"/>
              <a:buChar char="•"/>
            </a:pPr>
            <a:r>
              <a:rPr lang="en-US" sz="2000" b="1" i="0" u="none" strike="noStrike" dirty="0">
                <a:solidFill>
                  <a:srgbClr val="000000"/>
                </a:solidFill>
                <a:effectLst/>
              </a:rPr>
              <a:t>RGB statistical features</a:t>
            </a:r>
            <a:endParaRPr lang="en-US" sz="2000" b="1" i="0" u="none" strike="noStrike" dirty="0">
              <a:solidFill>
                <a:srgbClr val="000000"/>
              </a:solidFill>
              <a:effectLst/>
            </a:endParaRPr>
          </a:p>
          <a:p>
            <a:pPr marL="457200" rtl="0" fontAlgn="base">
              <a:buFont typeface="Arial" panose="020B0604020202020204" pitchFamily="34" charset="0"/>
              <a:buChar char="•"/>
            </a:pPr>
            <a:r>
              <a:rPr lang="en-US" sz="2000" b="1" i="0" u="none" strike="noStrike" dirty="0">
                <a:solidFill>
                  <a:srgbClr val="000000"/>
                </a:solidFill>
                <a:effectLst/>
              </a:rPr>
              <a:t>Hyperspectral spectral features via MST++</a:t>
            </a:r>
            <a:br>
              <a:rPr lang="en-US" sz="2000" b="1" i="0" u="none" strike="noStrike" dirty="0">
                <a:solidFill>
                  <a:srgbClr val="000000"/>
                </a:solidFill>
                <a:effectLst/>
              </a:rPr>
            </a:br>
            <a:r>
              <a:rPr lang="en-US" sz="2000" b="1" i="0" u="none" strike="noStrike" dirty="0">
                <a:solidFill>
                  <a:srgbClr val="000000"/>
                </a:solidFill>
                <a:effectLst/>
              </a:rPr>
              <a:t>This comprehensive feature fusion helps capture both spatial, textural, and spectral characteristics of lesions </a:t>
            </a:r>
            <a:endParaRPr lang="en-US" sz="2000" b="1" i="0" u="none" strike="noStrike" dirty="0">
              <a:solidFill>
                <a:srgbClr val="000000"/>
              </a:solidFill>
              <a:effectLs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71856" y="536448"/>
            <a:ext cx="11448288" cy="1323439"/>
          </a:xfrm>
          <a:prstGeom prst="rect">
            <a:avLst/>
          </a:prstGeom>
          <a:noFill/>
        </p:spPr>
        <p:txBody>
          <a:bodyPr wrap="square">
            <a:spAutoFit/>
          </a:bodyPr>
          <a:lstStyle/>
          <a:p>
            <a:pPr rtl="0" fontAlgn="base"/>
            <a:endParaRPr lang="en-US" sz="2000" b="1" i="0" u="none" strike="noStrike" dirty="0">
              <a:solidFill>
                <a:srgbClr val="000000"/>
              </a:solidFill>
              <a:effectLst/>
            </a:endParaRPr>
          </a:p>
          <a:p>
            <a:pPr rtl="0" fontAlgn="base">
              <a:spcAft>
                <a:spcPts val="1200"/>
              </a:spcAft>
              <a:buFont typeface="Arial" panose="020B0604020202020204" pitchFamily="34" charset="0"/>
              <a:buChar char="•"/>
            </a:pPr>
            <a:r>
              <a:rPr lang="en-US" sz="2000" b="1" i="1" u="sng" strike="noStrike" dirty="0">
                <a:solidFill>
                  <a:srgbClr val="000000"/>
                </a:solidFill>
                <a:effectLst/>
              </a:rPr>
              <a:t> Classification Model:</a:t>
            </a:r>
            <a:r>
              <a:rPr lang="en-US" sz="2000" b="1" i="0" u="none" strike="noStrike" dirty="0">
                <a:solidFill>
                  <a:srgbClr val="000000"/>
                </a:solidFill>
                <a:effectLst/>
              </a:rPr>
              <a:t> The paper uses an optimized Random Forest classifier. This choice is well-suited for handling high-dimensional, multimodal feature vectors, especially when datasets are limited or imbalanced</a:t>
            </a:r>
            <a:endParaRPr lang="en-US" sz="2000" b="1" i="0" u="none" strike="noStrike" dirty="0">
              <a:solidFill>
                <a:srgbClr val="000000"/>
              </a:solidFill>
              <a:effectLst/>
            </a:endParaRPr>
          </a:p>
        </p:txBody>
      </p:sp>
      <p:sp>
        <p:nvSpPr>
          <p:cNvPr id="28" name="TextBox 27"/>
          <p:cNvSpPr txBox="1"/>
          <p:nvPr/>
        </p:nvSpPr>
        <p:spPr>
          <a:xfrm>
            <a:off x="371856" y="2502408"/>
            <a:ext cx="11161776" cy="2636619"/>
          </a:xfrm>
          <a:prstGeom prst="rect">
            <a:avLst/>
          </a:prstGeom>
          <a:noFill/>
        </p:spPr>
        <p:txBody>
          <a:bodyPr wrap="square">
            <a:spAutoFit/>
          </a:bodyPr>
          <a:lstStyle/>
          <a:p>
            <a:pPr rtl="0">
              <a:spcBef>
                <a:spcPts val="1400"/>
              </a:spcBef>
              <a:spcAft>
                <a:spcPts val="400"/>
              </a:spcAft>
              <a:buNone/>
            </a:pPr>
            <a:r>
              <a:rPr lang="en-US" sz="2400" b="1" i="0" u="none" strike="noStrike" dirty="0">
                <a:solidFill>
                  <a:srgbClr val="000000"/>
                </a:solidFill>
                <a:effectLst/>
                <a:latin typeface="Arial" panose="020B0604020202020204" pitchFamily="34" charset="0"/>
              </a:rPr>
              <a:t>Advantages &amp; Context</a:t>
            </a:r>
            <a:endParaRPr lang="en-US" b="1" dirty="0">
              <a:effectLst/>
            </a:endParaRPr>
          </a:p>
          <a:p>
            <a:pPr rtl="0" fontAlgn="base">
              <a:spcBef>
                <a:spcPts val="1200"/>
              </a:spcBef>
              <a:spcAft>
                <a:spcPts val="1200"/>
              </a:spcAft>
              <a:buFont typeface="Arial" panose="020B0604020202020204" pitchFamily="34" charset="0"/>
              <a:buChar char="•"/>
            </a:pPr>
            <a:r>
              <a:rPr lang="en-US" b="1" i="0" u="none" strike="noStrike" dirty="0">
                <a:solidFill>
                  <a:srgbClr val="000000"/>
                </a:solidFill>
                <a:effectLst/>
              </a:rPr>
              <a:t> </a:t>
            </a:r>
            <a:r>
              <a:rPr lang="en-US" b="1" i="0" u="sng" strike="noStrike" dirty="0">
                <a:solidFill>
                  <a:srgbClr val="000000"/>
                </a:solidFill>
                <a:effectLst/>
              </a:rPr>
              <a:t>Data-Efficient &amp; Practical</a:t>
            </a:r>
            <a:r>
              <a:rPr lang="en-US" b="1" i="0" u="none" strike="noStrike" dirty="0">
                <a:solidFill>
                  <a:srgbClr val="000000"/>
                </a:solidFill>
                <a:effectLst/>
              </a:rPr>
              <a:t>: By reconstructing spectral information from RGB data through MST++, the framework avoids reliance on costly hyperspectral imaging hardware—making it more viable in resource-constrained clinical settings</a:t>
            </a:r>
            <a:endParaRPr lang="en-US" b="1" i="0" u="none" strike="noStrike" dirty="0">
              <a:solidFill>
                <a:srgbClr val="000000"/>
              </a:solidFill>
              <a:effectLst/>
            </a:endParaRPr>
          </a:p>
          <a:p>
            <a:pPr rtl="0" fontAlgn="base">
              <a:spcBef>
                <a:spcPts val="1200"/>
              </a:spcBef>
              <a:spcAft>
                <a:spcPts val="1200"/>
              </a:spcAft>
              <a:buFont typeface="Arial" panose="020B0604020202020204" pitchFamily="34" charset="0"/>
              <a:buChar char="•"/>
            </a:pPr>
            <a:r>
              <a:rPr lang="en-US" b="1" i="0" u="none" strike="noStrike" dirty="0">
                <a:solidFill>
                  <a:srgbClr val="000000"/>
                </a:solidFill>
                <a:effectLst/>
              </a:rPr>
              <a:t> </a:t>
            </a:r>
            <a:r>
              <a:rPr lang="en-US" b="1" i="0" u="sng" strike="noStrike" dirty="0">
                <a:solidFill>
                  <a:srgbClr val="000000"/>
                </a:solidFill>
                <a:effectLst/>
              </a:rPr>
              <a:t>Adaptable to Limited Datasets</a:t>
            </a:r>
            <a:r>
              <a:rPr lang="en-US" b="1" i="0" u="none" strike="noStrike" dirty="0">
                <a:solidFill>
                  <a:srgbClr val="000000"/>
                </a:solidFill>
                <a:effectLst/>
              </a:rPr>
              <a:t>: Instead of deep learning models that require large annotated datasets, this approach relies more on handcrafted features and classical ML (Random Forests), which can better handle small or imbalanced datasets typical in medical imaging </a:t>
            </a:r>
            <a:endParaRPr lang="en-US" b="1" i="0" u="none" strike="noStrike" dirty="0">
              <a:solidFill>
                <a:srgbClr val="000000"/>
              </a:solidFill>
              <a:effectLs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IN" dirty="0"/>
              <a:t>Paper: </a:t>
            </a:r>
            <a:endParaRPr lang="en-IN" dirty="0"/>
          </a:p>
          <a:p>
            <a:pPr marL="0" indent="0">
              <a:buNone/>
            </a:pPr>
            <a:endParaRPr lang="en-IN" dirty="0"/>
          </a:p>
          <a:p>
            <a:pPr marL="0" indent="0">
              <a:buNone/>
            </a:pPr>
            <a:r>
              <a:rPr lang="en-US" sz="3200" b="1" dirty="0" err="1">
                <a:latin typeface="Arial Black" panose="020B0A04020102020204" pitchFamily="34" charset="0"/>
              </a:rPr>
              <a:t>ResNet</a:t>
            </a:r>
            <a:endParaRPr lang="en-US" sz="3200" b="0" dirty="0">
              <a:effectLst/>
              <a:latin typeface="Arial Black" panose="020B0A04020102020204" pitchFamily="34" charset="0"/>
            </a:endParaRPr>
          </a:p>
          <a:p>
            <a:pPr marL="0" indent="0">
              <a:buNone/>
            </a:pPr>
            <a:r>
              <a:rPr lang="en-US" sz="2000" b="1" dirty="0">
                <a:latin typeface="+mj-lt"/>
              </a:rPr>
              <a:t>Kaiming He Xiangyu Zhang Shaoqing Ren Jian Sun</a:t>
            </a:r>
            <a:endParaRPr lang="en-US" sz="2000" b="0" dirty="0">
              <a:effectLst/>
              <a:latin typeface="+mj-lt"/>
            </a:endParaRPr>
          </a:p>
          <a:p>
            <a:pPr marL="0" indent="0">
              <a:buNone/>
            </a:pPr>
            <a:br>
              <a:rPr lang="en-US" dirty="0"/>
            </a:br>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29184" y="184985"/>
            <a:ext cx="7205472" cy="3416320"/>
          </a:xfrm>
          <a:prstGeom prst="rect">
            <a:avLst/>
          </a:prstGeom>
          <a:noFill/>
        </p:spPr>
        <p:txBody>
          <a:bodyPr wrap="square">
            <a:spAutoFit/>
          </a:bodyPr>
          <a:lstStyle/>
          <a:p>
            <a:pPr rtl="0">
              <a:buNone/>
            </a:pPr>
            <a:r>
              <a:rPr lang="en-US" b="1" i="0" u="none" strike="noStrike" dirty="0">
                <a:solidFill>
                  <a:srgbClr val="000000"/>
                </a:solidFill>
                <a:effectLst/>
              </a:rPr>
              <a:t>Motivation</a:t>
            </a:r>
            <a:endParaRPr lang="en-US" b="0" dirty="0">
              <a:effectLst/>
            </a:endParaRPr>
          </a:p>
          <a:p>
            <a:pPr lvl="1" fontAlgn="base">
              <a:buFont typeface="Arial" panose="020B0604020202020204" pitchFamily="34" charset="0"/>
              <a:buChar char="•"/>
            </a:pPr>
            <a:r>
              <a:rPr lang="en-US" b="1" i="0" u="none" strike="noStrike" dirty="0">
                <a:solidFill>
                  <a:srgbClr val="000000"/>
                </a:solidFill>
                <a:effectLst/>
              </a:rPr>
              <a:t> Deeper neural networks usually perform better (more representational power).</a:t>
            </a:r>
            <a:endParaRPr lang="en-US" b="1" i="0" u="none" strike="noStrike" dirty="0">
              <a:solidFill>
                <a:srgbClr val="000000"/>
              </a:solidFill>
              <a:effectLst/>
            </a:endParaRPr>
          </a:p>
          <a:p>
            <a:pPr lvl="1" fontAlgn="base">
              <a:buFont typeface="Arial" panose="020B0604020202020204" pitchFamily="34" charset="0"/>
              <a:buChar char="•"/>
            </a:pPr>
            <a:r>
              <a:rPr lang="en-US" b="1" i="0" u="none" strike="noStrike" dirty="0">
                <a:solidFill>
                  <a:srgbClr val="000000"/>
                </a:solidFill>
                <a:effectLst/>
              </a:rPr>
              <a:t> But as depth increases, training becomes difficult:</a:t>
            </a:r>
            <a:endParaRPr lang="en-US" b="1" i="0" u="none" strike="noStrike" dirty="0">
              <a:solidFill>
                <a:srgbClr val="000000"/>
              </a:solidFill>
              <a:effectLst/>
            </a:endParaRPr>
          </a:p>
          <a:p>
            <a:pPr marL="1200150" lvl="2" indent="-285750" fontAlgn="base">
              <a:buFont typeface="Arial" panose="020B0604020202020204" pitchFamily="34" charset="0"/>
              <a:buChar char="•"/>
            </a:pPr>
            <a:r>
              <a:rPr lang="en-US" b="1" i="0" u="none" strike="noStrike" dirty="0">
                <a:solidFill>
                  <a:srgbClr val="000000"/>
                </a:solidFill>
                <a:effectLst/>
              </a:rPr>
              <a:t>Vanishing/exploding gradients → optimization problem.</a:t>
            </a:r>
            <a:endParaRPr lang="en-US" b="1" i="0" u="none" strike="noStrike" dirty="0">
              <a:solidFill>
                <a:srgbClr val="000000"/>
              </a:solidFill>
              <a:effectLst/>
            </a:endParaRPr>
          </a:p>
          <a:p>
            <a:pPr marL="1200150" lvl="2" indent="-285750" fontAlgn="base">
              <a:buFont typeface="Arial" panose="020B0604020202020204" pitchFamily="34" charset="0"/>
              <a:buChar char="•"/>
            </a:pPr>
            <a:r>
              <a:rPr lang="en-US" b="1" i="0" u="none" strike="noStrike" dirty="0">
                <a:solidFill>
                  <a:srgbClr val="000000"/>
                </a:solidFill>
                <a:effectLst/>
              </a:rPr>
              <a:t>Degradation problem → deeper models sometimes have higher training error than shallower ones.</a:t>
            </a:r>
            <a:endParaRPr lang="en-US" b="1" i="0" u="none" strike="noStrike" dirty="0">
              <a:solidFill>
                <a:srgbClr val="000000"/>
              </a:solidFill>
              <a:effectLst/>
            </a:endParaRPr>
          </a:p>
          <a:p>
            <a:pPr>
              <a:buNone/>
            </a:pPr>
            <a:endParaRPr lang="en-US" b="0" dirty="0">
              <a:effectLst/>
            </a:endParaRPr>
          </a:p>
          <a:p>
            <a:pPr rtl="0">
              <a:buNone/>
            </a:pPr>
            <a:r>
              <a:rPr lang="en-US" b="1" i="0" u="none" strike="noStrike" dirty="0">
                <a:solidFill>
                  <a:srgbClr val="000000"/>
                </a:solidFill>
                <a:effectLst/>
              </a:rPr>
              <a:t>Key Idea</a:t>
            </a:r>
            <a:endParaRPr lang="en-US" b="0" dirty="0">
              <a:effectLst/>
            </a:endParaRPr>
          </a:p>
          <a:p>
            <a:pPr lvl="1" fontAlgn="base">
              <a:buFont typeface="Arial" panose="020B0604020202020204" pitchFamily="34" charset="0"/>
              <a:buChar char="•"/>
            </a:pPr>
            <a:r>
              <a:rPr lang="en-US" b="1" i="0" u="none" strike="noStrike" dirty="0">
                <a:solidFill>
                  <a:srgbClr val="000000"/>
                </a:solidFill>
                <a:effectLst/>
              </a:rPr>
              <a:t> Then output becomes:  y=F(x)+x </a:t>
            </a:r>
            <a:endParaRPr lang="en-US" b="1" i="0" u="none" strike="noStrike" dirty="0">
              <a:solidFill>
                <a:srgbClr val="000000"/>
              </a:solidFill>
              <a:effectLst/>
            </a:endParaRPr>
          </a:p>
          <a:p>
            <a:pPr lvl="1" fontAlgn="base">
              <a:buFont typeface="Arial" panose="020B0604020202020204" pitchFamily="34" charset="0"/>
              <a:buChar char="•"/>
            </a:pPr>
            <a:r>
              <a:rPr lang="en-US" b="1" i="0" u="none" strike="noStrike" dirty="0">
                <a:solidFill>
                  <a:srgbClr val="000000"/>
                </a:solidFill>
                <a:effectLst/>
              </a:rPr>
              <a:t> The shortcut (identity connection) allows gradients to flow easily backward, solving vanishing gradient issues.</a:t>
            </a:r>
            <a:endParaRPr lang="en-US" b="1" i="0" u="none" strike="noStrike" dirty="0">
              <a:solidFill>
                <a:srgbClr val="000000"/>
              </a:solidFill>
              <a:effectLst/>
            </a:endParaRPr>
          </a:p>
        </p:txBody>
      </p:sp>
      <p:pic>
        <p:nvPicPr>
          <p:cNvPr id="20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316470" y="682625"/>
            <a:ext cx="4653915" cy="584771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0945" y="3878580"/>
            <a:ext cx="3614420" cy="267843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IN" dirty="0"/>
              <a:t>Paper: </a:t>
            </a:r>
            <a:endParaRPr lang="en-IN" dirty="0"/>
          </a:p>
          <a:p>
            <a:pPr marL="0" indent="0">
              <a:buNone/>
            </a:pPr>
            <a:endParaRPr lang="en-IN" dirty="0"/>
          </a:p>
          <a:p>
            <a:pPr marL="0" indent="0">
              <a:buNone/>
            </a:pPr>
            <a:r>
              <a:rPr lang="en-IN" sz="3200" b="1" dirty="0">
                <a:latin typeface="Arial Black" panose="020B0A04020102020204" pitchFamily="34" charset="0"/>
              </a:rPr>
              <a:t>Densely Connected Convolutional Networks</a:t>
            </a:r>
            <a:endParaRPr lang="en-IN" sz="3200" b="0" dirty="0">
              <a:effectLst/>
              <a:latin typeface="Arial Black" panose="020B0A04020102020204" pitchFamily="34" charset="0"/>
            </a:endParaRPr>
          </a:p>
          <a:p>
            <a:pPr marL="0" indent="0">
              <a:buNone/>
            </a:pPr>
            <a:r>
              <a:rPr lang="en-IN" sz="2000" b="1" dirty="0">
                <a:latin typeface="+mj-lt"/>
              </a:rPr>
              <a:t>Gao Huang,   Zhuang Liu,  Laurens van der </a:t>
            </a:r>
            <a:r>
              <a:rPr lang="en-IN" sz="2000" b="1" dirty="0" err="1">
                <a:latin typeface="+mj-lt"/>
              </a:rPr>
              <a:t>Maaten</a:t>
            </a:r>
            <a:r>
              <a:rPr lang="en-IN" sz="2000" b="1" dirty="0">
                <a:latin typeface="+mj-lt"/>
              </a:rPr>
              <a:t>,  Kilian Q. Weinberger</a:t>
            </a:r>
            <a:endParaRPr lang="en-IN" sz="2000" b="0" dirty="0">
              <a:effectLst/>
              <a:latin typeface="+mj-lt"/>
            </a:endParaRPr>
          </a:p>
          <a:p>
            <a:pPr marL="0" indent="0">
              <a:buNone/>
            </a:pPr>
            <a:br>
              <a:rPr lang="en-IN" sz="3600" dirty="0"/>
            </a:br>
            <a:br>
              <a:rPr lang="en-US" dirty="0"/>
            </a:br>
            <a:endParaRPr lang="en-I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341120" y="1731627"/>
            <a:ext cx="6096000" cy="646331"/>
          </a:xfrm>
          <a:prstGeom prst="rect">
            <a:avLst/>
          </a:prstGeom>
          <a:noFill/>
        </p:spPr>
        <p:txBody>
          <a:bodyPr wrap="square">
            <a:spAutoFit/>
          </a:bodyPr>
          <a:lstStyle/>
          <a:p>
            <a:pPr>
              <a:buNone/>
            </a:pPr>
            <a:br>
              <a:rPr lang="en-IN" dirty="0"/>
            </a:br>
            <a:endParaRPr lang="en-IN" dirty="0"/>
          </a:p>
        </p:txBody>
      </p:sp>
      <p:sp>
        <p:nvSpPr>
          <p:cNvPr id="7" name="TextBox 6"/>
          <p:cNvSpPr txBox="1"/>
          <p:nvPr/>
        </p:nvSpPr>
        <p:spPr>
          <a:xfrm>
            <a:off x="390144" y="415396"/>
            <a:ext cx="6096000" cy="2554545"/>
          </a:xfrm>
          <a:prstGeom prst="rect">
            <a:avLst/>
          </a:prstGeom>
          <a:noFill/>
        </p:spPr>
        <p:txBody>
          <a:bodyPr wrap="square">
            <a:spAutoFit/>
          </a:bodyPr>
          <a:lstStyle/>
          <a:p>
            <a:pPr marL="285750" indent="-285750">
              <a:buFont typeface="Arial" panose="020B0604020202020204" pitchFamily="34" charset="0"/>
              <a:buChar char="•"/>
            </a:pPr>
            <a:r>
              <a:rPr lang="en-US" sz="2000" b="1" i="0" u="none" strike="noStrike" dirty="0">
                <a:solidFill>
                  <a:srgbClr val="000000"/>
                </a:solidFill>
                <a:effectLst/>
              </a:rPr>
              <a:t>Dense Block: group of densely connected layers.</a:t>
            </a:r>
            <a:br>
              <a:rPr lang="en-US" sz="2000" b="0" dirty="0">
                <a:effectLst/>
              </a:rPr>
            </a:br>
            <a:endParaRPr lang="en-US" sz="2000" b="0" dirty="0">
              <a:effectLst/>
            </a:endParaRPr>
          </a:p>
          <a:p>
            <a:pPr marL="285750" indent="-285750" rtl="0">
              <a:buFont typeface="Arial" panose="020B0604020202020204" pitchFamily="34" charset="0"/>
              <a:buChar char="•"/>
            </a:pPr>
            <a:r>
              <a:rPr lang="en-US" sz="2000" b="1" i="0" u="none" strike="noStrike" dirty="0">
                <a:solidFill>
                  <a:srgbClr val="000000"/>
                </a:solidFill>
                <a:effectLst/>
              </a:rPr>
              <a:t>Transition Layer: reduces feature map size and number of channels (using 1×1 conv + pooling).</a:t>
            </a:r>
            <a:endParaRPr lang="en-US" sz="2000" b="0" dirty="0">
              <a:effectLst/>
            </a:endParaRPr>
          </a:p>
          <a:p>
            <a:endParaRPr lang="en-US" sz="2000" b="0" dirty="0">
              <a:effectLst/>
            </a:endParaRPr>
          </a:p>
          <a:p>
            <a:pPr marL="285750" indent="-285750" rtl="0">
              <a:buFont typeface="Arial" panose="020B0604020202020204" pitchFamily="34" charset="0"/>
              <a:buChar char="•"/>
            </a:pPr>
            <a:r>
              <a:rPr lang="en-US" sz="2000" b="1" i="0" u="none" strike="noStrike" dirty="0">
                <a:solidFill>
                  <a:srgbClr val="000000"/>
                </a:solidFill>
                <a:effectLst/>
              </a:rPr>
              <a:t>Growth Rate (k): number of new feature maps each layer adds. Keeps network compact.</a:t>
            </a:r>
            <a:endParaRPr lang="en-US" sz="2000" b="0" dirty="0">
              <a:effectLst/>
            </a:endParaRPr>
          </a:p>
          <a:p>
            <a:endParaRPr lang="en-IN" sz="2000" dirty="0"/>
          </a:p>
        </p:txBody>
      </p:sp>
      <p:sp>
        <p:nvSpPr>
          <p:cNvPr id="9" name="TextBox 8"/>
          <p:cNvSpPr txBox="1"/>
          <p:nvPr/>
        </p:nvSpPr>
        <p:spPr>
          <a:xfrm>
            <a:off x="219456" y="3266395"/>
            <a:ext cx="6096000" cy="2062103"/>
          </a:xfrm>
          <a:prstGeom prst="rect">
            <a:avLst/>
          </a:prstGeom>
          <a:noFill/>
        </p:spPr>
        <p:txBody>
          <a:bodyPr wrap="square">
            <a:spAutoFit/>
          </a:bodyPr>
          <a:lstStyle/>
          <a:p>
            <a:pPr rtl="0" fontAlgn="base"/>
            <a:r>
              <a:rPr lang="en-US" sz="2800" b="1" dirty="0">
                <a:solidFill>
                  <a:srgbClr val="000000"/>
                </a:solidFill>
              </a:rPr>
              <a:t>Feature reuse</a:t>
            </a:r>
            <a:endParaRPr lang="en-US" sz="2800" b="1" i="0" u="none" strike="noStrike" dirty="0">
              <a:solidFill>
                <a:srgbClr val="000000"/>
              </a:solidFill>
              <a:effectLst/>
            </a:endParaRPr>
          </a:p>
          <a:p>
            <a:pPr marL="742950" lvl="1" indent="-285750" rtl="0" fontAlgn="base">
              <a:buFont typeface="Arial" panose="020B0604020202020204" pitchFamily="34" charset="0"/>
              <a:buChar char="•"/>
            </a:pPr>
            <a:r>
              <a:rPr lang="en-US" sz="2000" b="1" i="0" u="none" strike="noStrike" dirty="0">
                <a:solidFill>
                  <a:srgbClr val="000000"/>
                </a:solidFill>
                <a:effectLst/>
              </a:rPr>
              <a:t>Explicit feature reuse: every layer has direct access to all previously learned feature maps.</a:t>
            </a:r>
            <a:endParaRPr lang="en-US" sz="2000" b="1" i="0" u="none" strike="noStrike" dirty="0">
              <a:solidFill>
                <a:srgbClr val="000000"/>
              </a:solidFill>
              <a:effectLst/>
            </a:endParaRPr>
          </a:p>
          <a:p>
            <a:pPr marL="742950" lvl="1" indent="-285750" rtl="0" fontAlgn="base">
              <a:buFont typeface="Arial" panose="020B0604020202020204" pitchFamily="34" charset="0"/>
              <a:buChar char="•"/>
            </a:pPr>
            <a:r>
              <a:rPr lang="en-US" sz="2000" b="1" i="0" u="none" strike="noStrike" dirty="0">
                <a:solidFill>
                  <a:srgbClr val="000000"/>
                </a:solidFill>
                <a:effectLst/>
              </a:rPr>
              <a:t>Strong gradient flow, richer representations.</a:t>
            </a:r>
            <a:endParaRPr lang="en-US" sz="2000" b="1" i="0" u="none" strike="noStrike" dirty="0">
              <a:solidFill>
                <a:srgbClr val="000000"/>
              </a:solidFill>
              <a:effectLst/>
            </a:endParaRPr>
          </a:p>
          <a:p>
            <a:pPr marL="742950" lvl="1" indent="-285750" fontAlgn="base">
              <a:buFont typeface="Arial" panose="020B0604020202020204" pitchFamily="34" charset="0"/>
              <a:buChar char="•"/>
            </a:pPr>
            <a:r>
              <a:rPr lang="en-US" sz="2000" b="1" dirty="0"/>
              <a:t>Encourages the network not to relearn redundant features but build upon old ones.</a:t>
            </a:r>
            <a:endParaRPr lang="en-US" sz="2000" b="1" i="0" u="none" strike="noStrike" dirty="0">
              <a:solidFill>
                <a:srgbClr val="000000"/>
              </a:solidFill>
              <a:effectLst/>
            </a:endParaRPr>
          </a:p>
        </p:txBody>
      </p:sp>
      <p:pic>
        <p:nvPicPr>
          <p:cNvPr id="307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485890" y="1286510"/>
            <a:ext cx="5315585" cy="41433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57589" y="559137"/>
            <a:ext cx="10515600" cy="1325563"/>
          </a:xfrm>
        </p:spPr>
        <p:txBody>
          <a:bodyPr/>
          <a:lstStyle/>
          <a:p>
            <a:r>
              <a:rPr lang="en-IN" b="1" dirty="0">
                <a:latin typeface="+mn-lt"/>
              </a:rPr>
              <a:t>Dataset </a:t>
            </a:r>
            <a:br>
              <a:rPr lang="en-IN" b="1" dirty="0">
                <a:latin typeface="+mn-lt"/>
              </a:rPr>
            </a:br>
            <a:endParaRPr lang="en-IN" b="1" dirty="0">
              <a:latin typeface="+mn-lt"/>
            </a:endParaRPr>
          </a:p>
        </p:txBody>
      </p:sp>
      <p:sp>
        <p:nvSpPr>
          <p:cNvPr id="3" name="Content Placeholder 2"/>
          <p:cNvSpPr>
            <a:spLocks noGrp="1"/>
          </p:cNvSpPr>
          <p:nvPr>
            <p:ph idx="1"/>
          </p:nvPr>
        </p:nvSpPr>
        <p:spPr>
          <a:xfrm>
            <a:off x="869853" y="1884700"/>
            <a:ext cx="10995991" cy="2971662"/>
          </a:xfrm>
        </p:spPr>
        <p:txBody>
          <a:bodyPr>
            <a:normAutofit/>
          </a:bodyPr>
          <a:lstStyle/>
          <a:p>
            <a:r>
              <a:rPr lang="en-IN" b="1" dirty="0" err="1"/>
              <a:t>Piyarathne</a:t>
            </a:r>
            <a:r>
              <a:rPr lang="en-IN" b="1" dirty="0"/>
              <a:t> et al_2024_Zenodo OPMD &amp; OC dataset</a:t>
            </a:r>
            <a:endParaRPr lang="en-IN" b="1" dirty="0"/>
          </a:p>
          <a:p>
            <a:r>
              <a:rPr lang="en-IN" b="1" dirty="0"/>
              <a:t>3000 images</a:t>
            </a:r>
            <a:endParaRPr lang="en-IN" b="1" dirty="0"/>
          </a:p>
          <a:p>
            <a:r>
              <a:rPr lang="en-IN" b="1" dirty="0"/>
              <a:t>Size : 1200 x 1600</a:t>
            </a:r>
            <a:endParaRPr lang="en-IN" b="1" dirty="0"/>
          </a:p>
          <a:p>
            <a:pPr marL="0" indent="0">
              <a:buNone/>
            </a:pPr>
            <a:endParaRPr lang="en-IN" sz="2000" b="1" dirty="0"/>
          </a:p>
        </p:txBody>
      </p:sp>
      <p:sp>
        <p:nvSpPr>
          <p:cNvPr id="5" name="TextBox 4"/>
          <p:cNvSpPr txBox="1"/>
          <p:nvPr/>
        </p:nvSpPr>
        <p:spPr>
          <a:xfrm>
            <a:off x="778476" y="3854888"/>
            <a:ext cx="7438766" cy="1631216"/>
          </a:xfrm>
          <a:prstGeom prst="rect">
            <a:avLst/>
          </a:prstGeom>
          <a:noFill/>
        </p:spPr>
        <p:txBody>
          <a:bodyPr wrap="square">
            <a:spAutoFit/>
          </a:bodyPr>
          <a:lstStyle/>
          <a:p>
            <a:pPr rtl="0">
              <a:buNone/>
            </a:pPr>
            <a:r>
              <a:rPr lang="en-IN" sz="2000" b="1" i="0" u="none" strike="noStrike" dirty="0">
                <a:solidFill>
                  <a:srgbClr val="000000"/>
                </a:solidFill>
                <a:effectLst/>
              </a:rPr>
              <a:t>Data Available:</a:t>
            </a:r>
            <a:endParaRPr lang="en-IN" sz="2000" b="0" dirty="0">
              <a:effectLst/>
            </a:endParaRPr>
          </a:p>
          <a:p>
            <a:pPr marL="800100" lvl="1" indent="-342900" fontAlgn="base">
              <a:buFont typeface="Arial" panose="020B0604020202020204" pitchFamily="34" charset="0"/>
              <a:buChar char="•"/>
            </a:pPr>
            <a:r>
              <a:rPr lang="en-IN" sz="2000" b="1" i="0" u="none" strike="noStrike" dirty="0">
                <a:solidFill>
                  <a:srgbClr val="000000"/>
                </a:solidFill>
                <a:effectLst/>
              </a:rPr>
              <a:t>IMAGE_DIR  Images (3000 images)</a:t>
            </a:r>
            <a:endParaRPr lang="en-IN" sz="2000" b="1" i="0" u="none" strike="noStrike" dirty="0">
              <a:solidFill>
                <a:srgbClr val="000000"/>
              </a:solidFill>
              <a:effectLst/>
            </a:endParaRPr>
          </a:p>
          <a:p>
            <a:pPr marL="800100" lvl="1" indent="-342900" fontAlgn="base">
              <a:buFont typeface="Arial" panose="020B0604020202020204" pitchFamily="34" charset="0"/>
              <a:buChar char="•"/>
            </a:pPr>
            <a:r>
              <a:rPr lang="en-IN" sz="2000" b="1" i="0" u="none" strike="noStrike" dirty="0">
                <a:solidFill>
                  <a:srgbClr val="000000"/>
                </a:solidFill>
                <a:effectLst/>
              </a:rPr>
              <a:t>ANNOTATION_FILE   (</a:t>
            </a:r>
            <a:r>
              <a:rPr lang="en-IN" sz="2000" b="1" i="0" u="none" strike="noStrike" dirty="0" err="1">
                <a:solidFill>
                  <a:srgbClr val="000000"/>
                </a:solidFill>
                <a:effectLst/>
              </a:rPr>
              <a:t>Annotation.json</a:t>
            </a:r>
            <a:r>
              <a:rPr lang="en-IN" sz="2000" b="1" i="0" u="none" strike="noStrike" dirty="0">
                <a:solidFill>
                  <a:srgbClr val="000000"/>
                </a:solidFill>
                <a:effectLst/>
              </a:rPr>
              <a:t>)</a:t>
            </a:r>
            <a:endParaRPr lang="en-IN" sz="2000" b="1" i="0" u="none" strike="noStrike" dirty="0">
              <a:solidFill>
                <a:srgbClr val="000000"/>
              </a:solidFill>
              <a:effectLst/>
            </a:endParaRPr>
          </a:p>
          <a:p>
            <a:pPr marL="800100" lvl="1" indent="-342900" fontAlgn="base">
              <a:buFont typeface="Arial" panose="020B0604020202020204" pitchFamily="34" charset="0"/>
              <a:buChar char="•"/>
            </a:pPr>
            <a:r>
              <a:rPr lang="en-IN" sz="2000" b="1" i="0" u="none" strike="noStrike" dirty="0">
                <a:solidFill>
                  <a:srgbClr val="000000"/>
                </a:solidFill>
                <a:effectLst/>
              </a:rPr>
              <a:t>IMAGEWISE_METADATA_FILE  (imagewise_data.xlsx)</a:t>
            </a:r>
            <a:endParaRPr lang="en-IN" sz="2000" b="1" i="0" u="none" strike="noStrike" dirty="0">
              <a:solidFill>
                <a:srgbClr val="000000"/>
              </a:solidFill>
              <a:effectLst/>
            </a:endParaRPr>
          </a:p>
          <a:p>
            <a:pPr marL="800100" lvl="1" indent="-342900" fontAlgn="base">
              <a:buFont typeface="Arial" panose="020B0604020202020204" pitchFamily="34" charset="0"/>
              <a:buChar char="•"/>
            </a:pPr>
            <a:r>
              <a:rPr lang="en-IN" sz="2000" b="1" i="0" u="none" strike="noStrike" dirty="0">
                <a:solidFill>
                  <a:srgbClr val="000000"/>
                </a:solidFill>
                <a:effectLst/>
              </a:rPr>
              <a:t>PATIENTWISE_METADATA_FILE  (patientwise_data.xlsx)</a:t>
            </a:r>
            <a:endParaRPr lang="en-IN" sz="2000" b="1" i="0" u="none" strike="noStrike" dirty="0">
              <a:solidFill>
                <a:srgbClr val="000000"/>
              </a:solidFill>
              <a:effectLs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530065" y="1327082"/>
            <a:ext cx="3113902" cy="1323439"/>
          </a:xfrm>
          <a:prstGeom prst="rect">
            <a:avLst/>
          </a:prstGeom>
          <a:noFill/>
        </p:spPr>
        <p:txBody>
          <a:bodyPr wrap="square">
            <a:spAutoFit/>
          </a:bodyPr>
          <a:lstStyle/>
          <a:p>
            <a:pPr marL="1257300" lvl="2" indent="-342900" fontAlgn="base">
              <a:buFont typeface="Arial" panose="020B0604020202020204" pitchFamily="34" charset="0"/>
              <a:buChar char="•"/>
            </a:pPr>
            <a:r>
              <a:rPr lang="en-US" sz="2000" b="1" i="0" u="none" strike="noStrike" dirty="0">
                <a:solidFill>
                  <a:srgbClr val="000000"/>
                </a:solidFill>
                <a:effectLst/>
              </a:rPr>
              <a:t>OPMD </a:t>
            </a:r>
            <a:endParaRPr lang="en-US" sz="2000" b="1" i="0" u="none" strike="noStrike" dirty="0">
              <a:solidFill>
                <a:srgbClr val="000000"/>
              </a:solidFill>
              <a:effectLst/>
            </a:endParaRPr>
          </a:p>
          <a:p>
            <a:pPr marL="1257300" lvl="2" indent="-342900" fontAlgn="base">
              <a:buFont typeface="Arial" panose="020B0604020202020204" pitchFamily="34" charset="0"/>
              <a:buChar char="•"/>
            </a:pPr>
            <a:r>
              <a:rPr lang="en-US" sz="2000" b="1" i="0" u="none" strike="noStrike" dirty="0">
                <a:solidFill>
                  <a:srgbClr val="000000"/>
                </a:solidFill>
                <a:effectLst/>
              </a:rPr>
              <a:t>Benign</a:t>
            </a:r>
            <a:endParaRPr lang="en-US" sz="2000" b="1" i="0" u="none" strike="noStrike" dirty="0">
              <a:solidFill>
                <a:srgbClr val="000000"/>
              </a:solidFill>
              <a:effectLst/>
            </a:endParaRPr>
          </a:p>
          <a:p>
            <a:pPr marL="1257300" lvl="2" indent="-342900" fontAlgn="base">
              <a:buFont typeface="Arial" panose="020B0604020202020204" pitchFamily="34" charset="0"/>
              <a:buChar char="•"/>
            </a:pPr>
            <a:r>
              <a:rPr lang="en-US" sz="2000" b="1" i="0" u="none" strike="noStrike" dirty="0">
                <a:solidFill>
                  <a:srgbClr val="000000"/>
                </a:solidFill>
                <a:effectLst/>
              </a:rPr>
              <a:t>Healthy</a:t>
            </a:r>
            <a:endParaRPr lang="en-US" sz="2000" b="1" i="0" u="none" strike="noStrike" dirty="0">
              <a:solidFill>
                <a:srgbClr val="000000"/>
              </a:solidFill>
              <a:effectLst/>
            </a:endParaRPr>
          </a:p>
          <a:p>
            <a:pPr marL="1257300" lvl="2" indent="-342900" fontAlgn="base">
              <a:buFont typeface="Arial" panose="020B0604020202020204" pitchFamily="34" charset="0"/>
              <a:buChar char="•"/>
            </a:pPr>
            <a:r>
              <a:rPr lang="en-US" sz="2000" b="1" i="0" u="none" strike="noStrike" dirty="0">
                <a:solidFill>
                  <a:srgbClr val="000000"/>
                </a:solidFill>
                <a:effectLst/>
              </a:rPr>
              <a:t> OCA</a:t>
            </a:r>
            <a:endParaRPr lang="en-US" sz="2000" b="1" i="0" u="none" strike="noStrike" dirty="0">
              <a:solidFill>
                <a:srgbClr val="000000"/>
              </a:solidFill>
              <a:effectLst/>
            </a:endParaRPr>
          </a:p>
        </p:txBody>
      </p:sp>
      <p:pic>
        <p:nvPicPr>
          <p:cNvPr id="15364"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75656" y="3855545"/>
            <a:ext cx="11649118" cy="2781601"/>
          </a:xfrm>
          <a:prstGeom prst="rect">
            <a:avLst/>
          </a:prstGeom>
          <a:noFill/>
          <a:extLst>
            <a:ext uri="{909E8E84-426E-40DD-AFC4-6F175D3DCCD1}">
              <a14:hiddenFill xmlns:a14="http://schemas.microsoft.com/office/drawing/2010/main">
                <a:solidFill>
                  <a:srgbClr val="FFFFFF"/>
                </a:solidFill>
              </a14:hiddenFill>
            </a:ext>
          </a:extLst>
        </p:spPr>
      </p:pic>
      <p:pic>
        <p:nvPicPr>
          <p:cNvPr id="15366"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02691" y="220854"/>
            <a:ext cx="6112067" cy="363469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9029700" y="865417"/>
            <a:ext cx="6098058" cy="461665"/>
          </a:xfrm>
          <a:prstGeom prst="rect">
            <a:avLst/>
          </a:prstGeom>
          <a:noFill/>
        </p:spPr>
        <p:txBody>
          <a:bodyPr wrap="square">
            <a:spAutoFit/>
          </a:bodyPr>
          <a:lstStyle/>
          <a:p>
            <a:r>
              <a:rPr lang="en-US" sz="2400" b="1" i="0" u="none" strike="noStrike" dirty="0">
                <a:solidFill>
                  <a:srgbClr val="000000"/>
                </a:solidFill>
                <a:effectLst/>
              </a:rPr>
              <a:t>4 categories </a:t>
            </a:r>
            <a:endParaRPr lang="en-IN"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51234" y="129146"/>
            <a:ext cx="10515600" cy="1325563"/>
          </a:xfrm>
        </p:spPr>
        <p:txBody>
          <a:bodyPr/>
          <a:lstStyle/>
          <a:p>
            <a:r>
              <a:rPr lang="en-IN" b="1" dirty="0">
                <a:latin typeface="+mn-lt"/>
              </a:rPr>
              <a:t>Methodology</a:t>
            </a:r>
            <a:endParaRPr lang="en-IN" b="1" dirty="0">
              <a:latin typeface="+mn-lt"/>
            </a:endParaRPr>
          </a:p>
        </p:txBody>
      </p:sp>
      <p:sp>
        <p:nvSpPr>
          <p:cNvPr id="3" name="Content Placeholder 2"/>
          <p:cNvSpPr>
            <a:spLocks noGrp="1"/>
          </p:cNvSpPr>
          <p:nvPr>
            <p:ph idx="1"/>
          </p:nvPr>
        </p:nvSpPr>
        <p:spPr>
          <a:xfrm>
            <a:off x="2508109" y="1454709"/>
            <a:ext cx="6796530" cy="398805"/>
          </a:xfrm>
          <a:ln>
            <a:solidFill>
              <a:schemeClr val="tx1"/>
            </a:solidFill>
          </a:ln>
        </p:spPr>
        <p:txBody>
          <a:bodyPr>
            <a:normAutofit lnSpcReduction="10000"/>
          </a:bodyPr>
          <a:lstStyle/>
          <a:p>
            <a:pPr marL="0" indent="0">
              <a:buNone/>
            </a:pPr>
            <a:r>
              <a:rPr lang="en-IN" sz="2400" dirty="0"/>
              <a:t>Input Image → Preprocessing→ Classifier (DL model) </a:t>
            </a:r>
            <a:endParaRPr lang="en-IN" sz="2400" dirty="0"/>
          </a:p>
        </p:txBody>
      </p:sp>
      <p:sp>
        <p:nvSpPr>
          <p:cNvPr id="9" name="TextBox 8"/>
          <p:cNvSpPr txBox="1"/>
          <p:nvPr/>
        </p:nvSpPr>
        <p:spPr>
          <a:xfrm>
            <a:off x="606485" y="1997839"/>
            <a:ext cx="8513132" cy="2923877"/>
          </a:xfrm>
          <a:prstGeom prst="rect">
            <a:avLst/>
          </a:prstGeom>
          <a:noFill/>
        </p:spPr>
        <p:txBody>
          <a:bodyPr wrap="square">
            <a:spAutoFit/>
          </a:bodyPr>
          <a:lstStyle/>
          <a:p>
            <a:r>
              <a:rPr lang="en-IN" sz="2400" b="1" dirty="0"/>
              <a:t>Preprocessing</a:t>
            </a:r>
            <a:endParaRPr lang="en-IN" sz="2400" b="1" dirty="0"/>
          </a:p>
          <a:p>
            <a:pPr marL="800100" lvl="1" indent="-342900">
              <a:buFont typeface="Arial" panose="020B0604020202020204" pitchFamily="34" charset="0"/>
              <a:buChar char="•"/>
            </a:pPr>
            <a:r>
              <a:rPr lang="en-IN" sz="2000" b="1" dirty="0"/>
              <a:t>Cropping </a:t>
            </a:r>
            <a:endParaRPr lang="en-IN" sz="2000" b="1" dirty="0"/>
          </a:p>
          <a:p>
            <a:pPr marL="800100" lvl="1" indent="-342900">
              <a:buFont typeface="Arial" panose="020B0604020202020204" pitchFamily="34" charset="0"/>
              <a:buChar char="•"/>
            </a:pPr>
            <a:r>
              <a:rPr lang="en-IN" sz="2000" b="1" dirty="0"/>
              <a:t>Resizing (224 x 224)</a:t>
            </a:r>
            <a:endParaRPr lang="en-IN" sz="2000" b="1" dirty="0"/>
          </a:p>
          <a:p>
            <a:pPr marL="800100" lvl="1" indent="-342900">
              <a:buFont typeface="Arial" panose="020B0604020202020204" pitchFamily="34" charset="0"/>
              <a:buChar char="•"/>
            </a:pPr>
            <a:r>
              <a:rPr lang="en-IN" sz="2000" b="1" dirty="0"/>
              <a:t>Data Augmentation: </a:t>
            </a:r>
            <a:endParaRPr lang="en-IN" sz="2000" b="1" dirty="0"/>
          </a:p>
          <a:p>
            <a:pPr marL="1257300" lvl="2" indent="-342900">
              <a:buFont typeface="Arial" panose="020B0604020202020204" pitchFamily="34" charset="0"/>
              <a:buChar char="•"/>
            </a:pPr>
            <a:r>
              <a:rPr lang="en-US" sz="2000" b="1" dirty="0"/>
              <a:t>Geometric: Horizontal flips, rotations</a:t>
            </a:r>
            <a:endParaRPr lang="en-US" sz="2000" b="1" dirty="0"/>
          </a:p>
          <a:p>
            <a:pPr marL="1257300" lvl="2" indent="-342900">
              <a:buFont typeface="Arial" panose="020B0604020202020204" pitchFamily="34" charset="0"/>
              <a:buChar char="•"/>
            </a:pPr>
            <a:r>
              <a:rPr lang="en-US" sz="2000" b="1" dirty="0"/>
              <a:t>Photometric: Color Jitter ( Brightness, Contrast, Saturation, Hue)</a:t>
            </a:r>
            <a:endParaRPr lang="en-US" sz="2000" b="1" dirty="0"/>
          </a:p>
          <a:p>
            <a:pPr lvl="1"/>
            <a:endParaRPr lang="en-IN" sz="2000" b="1" dirty="0"/>
          </a:p>
          <a:p>
            <a:endParaRPr lang="en-IN" sz="2000" b="1" dirty="0"/>
          </a:p>
          <a:p>
            <a:endParaRPr lang="en-IN" sz="2000" b="1" dirty="0"/>
          </a:p>
        </p:txBody>
      </p:sp>
      <p:sp>
        <p:nvSpPr>
          <p:cNvPr id="5" name="TextBox 4"/>
          <p:cNvSpPr txBox="1"/>
          <p:nvPr/>
        </p:nvSpPr>
        <p:spPr>
          <a:xfrm>
            <a:off x="606485" y="4075331"/>
            <a:ext cx="6096000" cy="2616101"/>
          </a:xfrm>
          <a:prstGeom prst="rect">
            <a:avLst/>
          </a:prstGeom>
          <a:noFill/>
        </p:spPr>
        <p:txBody>
          <a:bodyPr wrap="square">
            <a:spAutoFit/>
          </a:bodyPr>
          <a:lstStyle/>
          <a:p>
            <a:pPr rtl="0" fontAlgn="base"/>
            <a:r>
              <a:rPr lang="en-IN" sz="2400" b="1" dirty="0">
                <a:solidFill>
                  <a:srgbClr val="000000"/>
                </a:solidFill>
              </a:rPr>
              <a:t>C</a:t>
            </a:r>
            <a:r>
              <a:rPr lang="en-IN" sz="2400" b="1" i="0" u="none" strike="noStrike" dirty="0">
                <a:solidFill>
                  <a:srgbClr val="000000"/>
                </a:solidFill>
                <a:effectLst/>
              </a:rPr>
              <a:t>lassification models</a:t>
            </a:r>
            <a:endParaRPr lang="en-IN" sz="2400" b="1" i="0" u="none" strike="noStrike" dirty="0">
              <a:solidFill>
                <a:srgbClr val="000000"/>
              </a:solidFill>
              <a:effectLst/>
            </a:endParaRPr>
          </a:p>
          <a:p>
            <a:pPr marL="742950" lvl="1" indent="-285750" rtl="0" fontAlgn="base">
              <a:buFont typeface="Arial" panose="020B0604020202020204" pitchFamily="34" charset="0"/>
              <a:buChar char="•"/>
            </a:pPr>
            <a:r>
              <a:rPr lang="en-IN" sz="2000" b="1" i="0" u="none" strike="noStrike" dirty="0">
                <a:solidFill>
                  <a:srgbClr val="000000"/>
                </a:solidFill>
                <a:effectLst/>
              </a:rPr>
              <a:t>ResNet18</a:t>
            </a:r>
            <a:endParaRPr lang="en-IN" sz="2000" b="1" i="0" u="none" strike="noStrike" dirty="0">
              <a:solidFill>
                <a:srgbClr val="000000"/>
              </a:solidFill>
              <a:effectLst/>
            </a:endParaRPr>
          </a:p>
          <a:p>
            <a:pPr marL="742950" lvl="1" indent="-285750" rtl="0" fontAlgn="base">
              <a:buFont typeface="Arial" panose="020B0604020202020204" pitchFamily="34" charset="0"/>
              <a:buChar char="•"/>
            </a:pPr>
            <a:r>
              <a:rPr lang="en-IN" sz="2000" b="1" i="0" u="none" strike="noStrike" dirty="0">
                <a:solidFill>
                  <a:srgbClr val="000000"/>
                </a:solidFill>
                <a:effectLst/>
              </a:rPr>
              <a:t>ResNet50</a:t>
            </a:r>
            <a:endParaRPr lang="en-IN" sz="2000" b="1" i="0" u="none" strike="noStrike" dirty="0">
              <a:solidFill>
                <a:srgbClr val="000000"/>
              </a:solidFill>
              <a:effectLst/>
            </a:endParaRPr>
          </a:p>
          <a:p>
            <a:pPr marL="742950" lvl="1" indent="-285750" rtl="0" fontAlgn="base">
              <a:buFont typeface="Arial" panose="020B0604020202020204" pitchFamily="34" charset="0"/>
              <a:buChar char="•"/>
            </a:pPr>
            <a:r>
              <a:rPr lang="en-IN" sz="2000" b="1" i="0" u="none" strike="noStrike" dirty="0">
                <a:solidFill>
                  <a:srgbClr val="000000"/>
                </a:solidFill>
                <a:effectLst/>
              </a:rPr>
              <a:t>DenseNet121</a:t>
            </a:r>
            <a:endParaRPr lang="en-IN" sz="2000" b="1" i="0" u="none" strike="noStrike" dirty="0">
              <a:solidFill>
                <a:srgbClr val="000000"/>
              </a:solidFill>
              <a:effectLst/>
            </a:endParaRPr>
          </a:p>
          <a:p>
            <a:pPr marL="742950" lvl="1" indent="-285750" rtl="0" fontAlgn="base">
              <a:buFont typeface="Arial" panose="020B0604020202020204" pitchFamily="34" charset="0"/>
              <a:buChar char="•"/>
            </a:pPr>
            <a:r>
              <a:rPr lang="en-IN" sz="2000" b="1" i="0" u="none" strike="noStrike" dirty="0">
                <a:solidFill>
                  <a:srgbClr val="000000"/>
                </a:solidFill>
                <a:effectLst/>
              </a:rPr>
              <a:t>EfficientNet-B0</a:t>
            </a:r>
            <a:endParaRPr lang="en-IN" sz="2000" b="1" i="0" u="none" strike="noStrike" dirty="0">
              <a:solidFill>
                <a:srgbClr val="000000"/>
              </a:solidFill>
              <a:effectLst/>
            </a:endParaRPr>
          </a:p>
          <a:p>
            <a:pPr marL="742950" lvl="1" indent="-285750" rtl="0" fontAlgn="base">
              <a:buFont typeface="Arial" panose="020B0604020202020204" pitchFamily="34" charset="0"/>
              <a:buChar char="•"/>
            </a:pPr>
            <a:r>
              <a:rPr lang="en-IN" sz="2000" b="1" i="0" u="none" strike="noStrike" dirty="0">
                <a:solidFill>
                  <a:srgbClr val="000000"/>
                </a:solidFill>
                <a:effectLst/>
              </a:rPr>
              <a:t>EfficientNet-B3</a:t>
            </a:r>
            <a:endParaRPr lang="en-IN" sz="2000" b="1" i="0" u="none" strike="noStrike" dirty="0">
              <a:solidFill>
                <a:srgbClr val="000000"/>
              </a:solidFill>
              <a:effectLst/>
            </a:endParaRPr>
          </a:p>
          <a:p>
            <a:pPr marL="742950" lvl="1" indent="-285750" rtl="0" fontAlgn="base">
              <a:buFont typeface="Arial" panose="020B0604020202020204" pitchFamily="34" charset="0"/>
              <a:buChar char="•"/>
            </a:pPr>
            <a:r>
              <a:rPr lang="en-IN" sz="2000" b="1" i="0" u="none" strike="noStrike" dirty="0">
                <a:solidFill>
                  <a:srgbClr val="000000"/>
                </a:solidFill>
                <a:effectLst/>
              </a:rPr>
              <a:t>Vision Transformer(ViT</a:t>
            </a:r>
            <a:r>
              <a:rPr lang="en-IN" sz="2000" b="1" dirty="0">
                <a:solidFill>
                  <a:srgbClr val="000000"/>
                </a:solidFill>
              </a:rPr>
              <a:t>_b_</a:t>
            </a:r>
            <a:r>
              <a:rPr lang="en-IN" sz="2000" b="1" i="0" u="none" strike="noStrike" dirty="0">
                <a:solidFill>
                  <a:srgbClr val="000000"/>
                </a:solidFill>
                <a:effectLst/>
              </a:rPr>
              <a:t>16)</a:t>
            </a:r>
            <a:endParaRPr lang="en-IN" sz="2000" b="1" i="0" u="none" strike="noStrike" dirty="0">
              <a:solidFill>
                <a:srgbClr val="000000"/>
              </a:solidFill>
              <a:effectLst/>
            </a:endParaRPr>
          </a:p>
          <a:p>
            <a:pPr marL="742950" lvl="1" indent="-285750" rtl="0" fontAlgn="base">
              <a:buFont typeface="Arial" panose="020B0604020202020204" pitchFamily="34" charset="0"/>
              <a:buChar char="•"/>
            </a:pPr>
            <a:r>
              <a:rPr lang="en-IN" sz="2000" b="1" i="0" u="none" strike="noStrike" dirty="0" err="1">
                <a:solidFill>
                  <a:srgbClr val="000000"/>
                </a:solidFill>
                <a:effectLst/>
              </a:rPr>
              <a:t>ConvNeXt</a:t>
            </a:r>
            <a:r>
              <a:rPr lang="en-IN" sz="2000" b="1" dirty="0">
                <a:solidFill>
                  <a:srgbClr val="000000"/>
                </a:solidFill>
              </a:rPr>
              <a:t>-Tiny</a:t>
            </a:r>
            <a:endParaRPr lang="en-IN" sz="2000" b="1" i="0" u="none" strike="noStrike" dirty="0">
              <a:solidFill>
                <a:srgbClr val="000000"/>
              </a:solidFill>
              <a:effectLs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606485" y="601526"/>
            <a:ext cx="8513132" cy="1384995"/>
          </a:xfrm>
          <a:prstGeom prst="rect">
            <a:avLst/>
          </a:prstGeom>
          <a:noFill/>
        </p:spPr>
        <p:txBody>
          <a:bodyPr wrap="square">
            <a:spAutoFit/>
          </a:bodyPr>
          <a:lstStyle/>
          <a:p>
            <a:pPr marL="342900" indent="-342900">
              <a:buFont typeface="Arial" panose="020B0604020202020204" pitchFamily="34" charset="0"/>
              <a:buChar char="•"/>
            </a:pPr>
            <a:r>
              <a:rPr lang="en-IN" sz="2400" b="1" dirty="0"/>
              <a:t>Type of classification </a:t>
            </a:r>
            <a:r>
              <a:rPr lang="en-IN" sz="2400" b="1" dirty="0">
                <a:sym typeface="Wingdings" panose="05000000000000000000" pitchFamily="2" charset="2"/>
              </a:rPr>
              <a:t> </a:t>
            </a:r>
            <a:r>
              <a:rPr lang="en-IN" sz="2400" b="1" dirty="0"/>
              <a:t>Multi-class Classification</a:t>
            </a:r>
            <a:endParaRPr lang="en-IN" sz="2400" b="1" dirty="0"/>
          </a:p>
          <a:p>
            <a:pPr lvl="1"/>
            <a:endParaRPr lang="en-IN" sz="2000" b="1" dirty="0"/>
          </a:p>
          <a:p>
            <a:endParaRPr lang="en-IN" sz="2000" b="1" dirty="0"/>
          </a:p>
          <a:p>
            <a:endParaRPr lang="en-IN" sz="2000" b="1" dirty="0"/>
          </a:p>
        </p:txBody>
      </p:sp>
      <p:sp>
        <p:nvSpPr>
          <p:cNvPr id="5" name="TextBox 4"/>
          <p:cNvSpPr txBox="1"/>
          <p:nvPr/>
        </p:nvSpPr>
        <p:spPr>
          <a:xfrm>
            <a:off x="3337328" y="1072639"/>
            <a:ext cx="6096000" cy="1384995"/>
          </a:xfrm>
          <a:prstGeom prst="rect">
            <a:avLst/>
          </a:prstGeom>
          <a:noFill/>
        </p:spPr>
        <p:txBody>
          <a:bodyPr wrap="square">
            <a:spAutoFit/>
          </a:bodyPr>
          <a:lstStyle/>
          <a:p>
            <a:pPr rtl="0" fontAlgn="base"/>
            <a:r>
              <a:rPr lang="en-IN" sz="2400" b="1" i="0" u="none" strike="noStrike" dirty="0">
                <a:solidFill>
                  <a:srgbClr val="000000"/>
                </a:solidFill>
                <a:effectLst/>
                <a:sym typeface="Wingdings" panose="05000000000000000000" pitchFamily="2" charset="2"/>
              </a:rPr>
              <a:t>    </a:t>
            </a:r>
            <a:r>
              <a:rPr lang="en-IN" sz="2400" b="1" dirty="0">
                <a:solidFill>
                  <a:srgbClr val="000000"/>
                </a:solidFill>
                <a:sym typeface="Wingdings" panose="05000000000000000000" pitchFamily="2" charset="2"/>
              </a:rPr>
              <a:t> 3 Classes</a:t>
            </a:r>
            <a:endParaRPr lang="en-IN" sz="2400" b="1" i="0" u="none" strike="noStrike" dirty="0">
              <a:solidFill>
                <a:srgbClr val="000000"/>
              </a:solidFill>
              <a:effectLst/>
            </a:endParaRPr>
          </a:p>
          <a:p>
            <a:pPr marL="1200150" lvl="2" indent="-285750" fontAlgn="base">
              <a:buFont typeface="Arial" panose="020B0604020202020204" pitchFamily="34" charset="0"/>
              <a:buChar char="•"/>
            </a:pPr>
            <a:r>
              <a:rPr lang="en-IN" sz="2000" b="1" i="0" u="none" strike="noStrike" dirty="0">
                <a:solidFill>
                  <a:srgbClr val="000000"/>
                </a:solidFill>
                <a:effectLst/>
              </a:rPr>
              <a:t>Healthy</a:t>
            </a:r>
            <a:endParaRPr lang="en-IN" sz="2000" b="1" i="0" u="none" strike="noStrike" dirty="0">
              <a:solidFill>
                <a:srgbClr val="000000"/>
              </a:solidFill>
              <a:effectLst/>
            </a:endParaRPr>
          </a:p>
          <a:p>
            <a:pPr marL="1200150" lvl="2" indent="-285750" fontAlgn="base">
              <a:buFont typeface="Arial" panose="020B0604020202020204" pitchFamily="34" charset="0"/>
              <a:buChar char="•"/>
            </a:pPr>
            <a:r>
              <a:rPr lang="en-IN" sz="2000" b="1" dirty="0">
                <a:solidFill>
                  <a:srgbClr val="000000"/>
                </a:solidFill>
              </a:rPr>
              <a:t>OPMD</a:t>
            </a:r>
            <a:endParaRPr lang="en-IN" sz="2000" b="1" i="0" u="none" strike="noStrike" dirty="0">
              <a:solidFill>
                <a:srgbClr val="000000"/>
              </a:solidFill>
              <a:effectLst/>
            </a:endParaRPr>
          </a:p>
          <a:p>
            <a:pPr marL="1200150" lvl="2" indent="-285750" fontAlgn="base">
              <a:buFont typeface="Arial" panose="020B0604020202020204" pitchFamily="34" charset="0"/>
              <a:buChar char="•"/>
            </a:pPr>
            <a:r>
              <a:rPr lang="en-IN" sz="2000" b="1" dirty="0">
                <a:solidFill>
                  <a:srgbClr val="000000"/>
                </a:solidFill>
              </a:rPr>
              <a:t>OCA</a:t>
            </a:r>
            <a:endParaRPr lang="en-IN" sz="2000" b="1" i="0" u="none" strike="noStrike" dirty="0">
              <a:solidFill>
                <a:srgbClr val="000000"/>
              </a:solidFill>
              <a:effectLst/>
            </a:endParaRPr>
          </a:p>
        </p:txBody>
      </p:sp>
      <p:sp>
        <p:nvSpPr>
          <p:cNvPr id="11" name="TextBox 10"/>
          <p:cNvSpPr txBox="1"/>
          <p:nvPr/>
        </p:nvSpPr>
        <p:spPr>
          <a:xfrm>
            <a:off x="132834" y="2581349"/>
            <a:ext cx="11593728" cy="2554545"/>
          </a:xfrm>
          <a:prstGeom prst="rect">
            <a:avLst/>
          </a:prstGeom>
          <a:noFill/>
        </p:spPr>
        <p:txBody>
          <a:bodyPr wrap="square">
            <a:spAutoFit/>
          </a:bodyPr>
          <a:lstStyle/>
          <a:p>
            <a:pPr marL="800100" indent="-342900" rtl="0" fontAlgn="base">
              <a:buFont typeface="Arial" panose="020B0604020202020204" pitchFamily="34" charset="0"/>
              <a:buChar char="•"/>
            </a:pPr>
            <a:r>
              <a:rPr lang="en-US" sz="2000" b="1" i="0" u="none" strike="noStrike" dirty="0">
                <a:solidFill>
                  <a:srgbClr val="000000"/>
                </a:solidFill>
                <a:effectLst/>
              </a:rPr>
              <a:t>Count of each Category in the dataset:</a:t>
            </a:r>
            <a:endParaRPr lang="en-US" sz="2000" b="1" i="0" u="none" strike="noStrike" dirty="0">
              <a:solidFill>
                <a:srgbClr val="000000"/>
              </a:solidFill>
              <a:effectLst/>
            </a:endParaRPr>
          </a:p>
          <a:p>
            <a:pPr marL="1657350" lvl="3" indent="-285750" fontAlgn="base">
              <a:buFont typeface="Arial" panose="020B0604020202020204" pitchFamily="34" charset="0"/>
              <a:buChar char="•"/>
            </a:pPr>
            <a:r>
              <a:rPr lang="en-US" sz="2000" b="1" i="0" u="none" strike="noStrike" dirty="0">
                <a:solidFill>
                  <a:srgbClr val="000000"/>
                </a:solidFill>
                <a:effectLst/>
              </a:rPr>
              <a:t>Healthy    729 (46.49 %)</a:t>
            </a:r>
            <a:endParaRPr lang="en-US" sz="2000" b="1" i="0" u="none" strike="noStrike" dirty="0">
              <a:solidFill>
                <a:srgbClr val="000000"/>
              </a:solidFill>
              <a:effectLst/>
            </a:endParaRPr>
          </a:p>
          <a:p>
            <a:pPr marL="1657350" lvl="3" indent="-285750" fontAlgn="base">
              <a:buFont typeface="Arial" panose="020B0604020202020204" pitchFamily="34" charset="0"/>
              <a:buChar char="•"/>
            </a:pPr>
            <a:r>
              <a:rPr lang="en-US" sz="2000" b="1" i="0" u="none" strike="noStrike" dirty="0">
                <a:solidFill>
                  <a:srgbClr val="000000"/>
                </a:solidFill>
                <a:effectLst/>
              </a:rPr>
              <a:t>OPMD      710 (45.28 %)</a:t>
            </a:r>
            <a:endParaRPr lang="en-US" sz="2000" b="1" i="0" u="none" strike="noStrike" dirty="0">
              <a:solidFill>
                <a:srgbClr val="000000"/>
              </a:solidFill>
              <a:effectLst/>
            </a:endParaRPr>
          </a:p>
          <a:p>
            <a:pPr marL="1657350" lvl="3" indent="-285750" fontAlgn="base">
              <a:buFont typeface="Arial" panose="020B0604020202020204" pitchFamily="34" charset="0"/>
              <a:buChar char="•"/>
            </a:pPr>
            <a:r>
              <a:rPr lang="en-US" sz="2000" b="1" i="0" u="none" strike="noStrike" dirty="0">
                <a:solidFill>
                  <a:srgbClr val="000000"/>
                </a:solidFill>
                <a:effectLst/>
              </a:rPr>
              <a:t>OCA          129   (8.227 %)</a:t>
            </a:r>
            <a:endParaRPr lang="en-US" sz="2000" b="1" i="0" u="none" strike="noStrike" dirty="0">
              <a:solidFill>
                <a:srgbClr val="000000"/>
              </a:solidFill>
              <a:effectLst/>
            </a:endParaRPr>
          </a:p>
          <a:p>
            <a:pPr marL="457200" rtl="0" fontAlgn="base"/>
            <a:endParaRPr lang="en-US" sz="2000" b="1" i="0" u="none" strike="noStrike" dirty="0">
              <a:solidFill>
                <a:srgbClr val="000000"/>
              </a:solidFill>
              <a:effectLst/>
            </a:endParaRPr>
          </a:p>
          <a:p>
            <a:pPr marL="800100" indent="-342900" rtl="0" fontAlgn="base">
              <a:buFont typeface="Arial" panose="020B0604020202020204" pitchFamily="34" charset="0"/>
              <a:buChar char="•"/>
            </a:pPr>
            <a:r>
              <a:rPr lang="en-US" sz="2000" b="1" dirty="0">
                <a:solidFill>
                  <a:srgbClr val="000000"/>
                </a:solidFill>
              </a:rPr>
              <a:t>D</a:t>
            </a:r>
            <a:r>
              <a:rPr lang="en-US" sz="2000" b="1" i="0" u="none" strike="noStrike" dirty="0">
                <a:solidFill>
                  <a:srgbClr val="000000"/>
                </a:solidFill>
                <a:effectLst/>
              </a:rPr>
              <a:t>ataset is imbalanced (Imbalance Ratio: ~ 6:1)</a:t>
            </a:r>
            <a:endParaRPr lang="en-US" sz="2000" b="1" i="0" u="none" strike="noStrike" dirty="0">
              <a:solidFill>
                <a:srgbClr val="000000"/>
              </a:solidFill>
              <a:effectLst/>
            </a:endParaRPr>
          </a:p>
          <a:p>
            <a:pPr marL="800100" indent="-342900" rtl="0" fontAlgn="base">
              <a:buFont typeface="Arial" panose="020B0604020202020204" pitchFamily="34" charset="0"/>
              <a:buChar char="•"/>
            </a:pPr>
            <a:r>
              <a:rPr lang="en-US" sz="2000" b="1" dirty="0">
                <a:solidFill>
                  <a:srgbClr val="000000"/>
                </a:solidFill>
              </a:rPr>
              <a:t>T</a:t>
            </a:r>
            <a:r>
              <a:rPr lang="en-US" sz="2000" b="1" i="0" u="none" strike="noStrike" dirty="0">
                <a:solidFill>
                  <a:srgbClr val="000000"/>
                </a:solidFill>
                <a:effectLst/>
              </a:rPr>
              <a:t>o address this "Weighted Cross Entropy Loss“ function is used</a:t>
            </a:r>
            <a:endParaRPr lang="en-US" sz="2000" b="1" i="0" u="none" strike="noStrike" dirty="0">
              <a:solidFill>
                <a:srgbClr val="000000"/>
              </a:solidFill>
              <a:effectLst/>
            </a:endParaRPr>
          </a:p>
          <a:p>
            <a:pPr marL="800100" indent="-342900" rtl="0" fontAlgn="base">
              <a:buFont typeface="Arial" panose="020B0604020202020204" pitchFamily="34" charset="0"/>
              <a:buChar char="•"/>
            </a:pPr>
            <a:r>
              <a:rPr lang="en-US" sz="2000" b="1" dirty="0">
                <a:solidFill>
                  <a:srgbClr val="000000"/>
                </a:solidFill>
              </a:rPr>
              <a:t>Early stopping is used to prevent overfitting</a:t>
            </a:r>
            <a:endParaRPr lang="en-US" sz="2000" b="1" i="0" u="none" strike="noStrike" dirty="0">
              <a:solidFill>
                <a:srgbClr val="000000"/>
              </a:solidFill>
              <a:effectLst/>
            </a:endParaRPr>
          </a:p>
        </p:txBody>
      </p:sp>
      <p:sp>
        <p:nvSpPr>
          <p:cNvPr id="13" name="TextBox 12"/>
          <p:cNvSpPr txBox="1"/>
          <p:nvPr/>
        </p:nvSpPr>
        <p:spPr>
          <a:xfrm>
            <a:off x="606485" y="5259609"/>
            <a:ext cx="11120077" cy="1427635"/>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IN" sz="2000" b="1" dirty="0"/>
              <a:t>Criterion   </a:t>
            </a:r>
            <a:r>
              <a:rPr lang="en-IN" sz="2000" b="1" dirty="0">
                <a:sym typeface="Wingdings" panose="05000000000000000000" pitchFamily="2" charset="2"/>
              </a:rPr>
              <a:t> Weighted Cross Entropy Loss</a:t>
            </a:r>
            <a:endParaRPr lang="en-IN" sz="2000" b="0" dirty="0">
              <a:effectLst/>
            </a:endParaRPr>
          </a:p>
          <a:p>
            <a:pPr marL="285750" indent="-285750">
              <a:lnSpc>
                <a:spcPct val="150000"/>
              </a:lnSpc>
              <a:buFont typeface="Arial" panose="020B0604020202020204" pitchFamily="34" charset="0"/>
              <a:buChar char="•"/>
            </a:pPr>
            <a:r>
              <a:rPr lang="en-IN" sz="2000" b="1" dirty="0"/>
              <a:t>Optimizer </a:t>
            </a:r>
            <a:r>
              <a:rPr lang="en-IN" sz="2000" b="1" dirty="0">
                <a:sym typeface="Wingdings" panose="05000000000000000000" pitchFamily="2" charset="2"/>
              </a:rPr>
              <a:t> Adam / </a:t>
            </a:r>
            <a:r>
              <a:rPr lang="en-IN" sz="2000" b="1" dirty="0" err="1">
                <a:sym typeface="Wingdings" panose="05000000000000000000" pitchFamily="2" charset="2"/>
              </a:rPr>
              <a:t>AdamW</a:t>
            </a:r>
            <a:r>
              <a:rPr lang="en-IN" sz="2000" b="1" dirty="0"/>
              <a:t> </a:t>
            </a:r>
            <a:endParaRPr lang="en-IN" sz="2000" b="1" dirty="0"/>
          </a:p>
          <a:p>
            <a:pPr marL="285750" indent="-285750">
              <a:lnSpc>
                <a:spcPct val="150000"/>
              </a:lnSpc>
              <a:buFont typeface="Arial" panose="020B0604020202020204" pitchFamily="34" charset="0"/>
              <a:buChar char="•"/>
            </a:pPr>
            <a:r>
              <a:rPr lang="en-IN" sz="2000" b="1" dirty="0"/>
              <a:t>Scheduler </a:t>
            </a:r>
            <a:r>
              <a:rPr lang="en-IN" sz="2000" b="1" dirty="0">
                <a:sym typeface="Wingdings" panose="05000000000000000000" pitchFamily="2" charset="2"/>
              </a:rPr>
              <a:t> </a:t>
            </a:r>
            <a:r>
              <a:rPr lang="en-IN" sz="2000" b="1" dirty="0" err="1"/>
              <a:t>CosineAnnealingLR</a:t>
            </a:r>
            <a:endParaRPr lang="en-IN"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p:nvPr/>
        </p:nvSpPr>
        <p:spPr>
          <a:xfrm>
            <a:off x="4040124" y="341377"/>
            <a:ext cx="4111752" cy="707135"/>
          </a:xfrm>
          <a:prstGeom prst="rect">
            <a:avLst/>
          </a:prstGeom>
        </p:spPr>
        <p:txBody>
          <a:bodyPr vert="horz" lIns="91440" tIns="45720" rIns="91440" bIns="45720" rtlCol="0" anchor="b">
            <a:normAutofit fontScale="8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b="1" dirty="0"/>
              <a:t>Results</a:t>
            </a:r>
            <a:endParaRPr lang="en-IN" b="1" dirty="0"/>
          </a:p>
        </p:txBody>
      </p:sp>
      <p:sp>
        <p:nvSpPr>
          <p:cNvPr id="5" name="Title 1"/>
          <p:cNvSpPr txBox="1"/>
          <p:nvPr/>
        </p:nvSpPr>
        <p:spPr>
          <a:xfrm>
            <a:off x="593124" y="982193"/>
            <a:ext cx="2553841" cy="515636"/>
          </a:xfrm>
          <a:prstGeom prst="rect">
            <a:avLst/>
          </a:prstGeom>
          <a:ln>
            <a:solidFill>
              <a:schemeClr val="tx1"/>
            </a:solid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800" b="1" dirty="0">
                <a:latin typeface="+mn-lt"/>
              </a:rPr>
              <a:t>Experiment -1</a:t>
            </a:r>
            <a:endParaRPr lang="en-IN" sz="2800" b="1" dirty="0">
              <a:latin typeface="+mn-lt"/>
            </a:endParaRPr>
          </a:p>
        </p:txBody>
      </p:sp>
      <p:sp>
        <p:nvSpPr>
          <p:cNvPr id="7" name="TextBox 6"/>
          <p:cNvSpPr txBox="1"/>
          <p:nvPr/>
        </p:nvSpPr>
        <p:spPr>
          <a:xfrm>
            <a:off x="146175" y="1658156"/>
            <a:ext cx="6370320" cy="369332"/>
          </a:xfrm>
          <a:prstGeom prst="rect">
            <a:avLst/>
          </a:prstGeom>
          <a:noFill/>
        </p:spPr>
        <p:txBody>
          <a:bodyPr wrap="square">
            <a:spAutoFit/>
          </a:bodyPr>
          <a:lstStyle/>
          <a:p>
            <a:pPr lvl="1" fontAlgn="base">
              <a:buFont typeface="Arial" panose="020B0604020202020204" pitchFamily="34" charset="0"/>
              <a:buChar char="•"/>
            </a:pPr>
            <a:r>
              <a:rPr lang="en-US" b="1" i="0" u="none" strike="noStrike" dirty="0">
                <a:solidFill>
                  <a:srgbClr val="000000"/>
                </a:solidFill>
                <a:effectLst/>
                <a:latin typeface="Arial" panose="020B0604020202020204" pitchFamily="34" charset="0"/>
              </a:rPr>
              <a:t> Input: Raw Images resized to 224x224</a:t>
            </a:r>
            <a:endParaRPr lang="en-US" b="1" i="0" u="none" strike="noStrike" dirty="0">
              <a:solidFill>
                <a:srgbClr val="000000"/>
              </a:solidFill>
              <a:effectLst/>
              <a:latin typeface="Arial" panose="020B0604020202020204" pitchFamily="34" charset="0"/>
            </a:endParaRPr>
          </a:p>
        </p:txBody>
      </p:sp>
      <p:sp>
        <p:nvSpPr>
          <p:cNvPr id="9" name="TextBox 8"/>
          <p:cNvSpPr txBox="1"/>
          <p:nvPr/>
        </p:nvSpPr>
        <p:spPr>
          <a:xfrm>
            <a:off x="146175" y="2187815"/>
            <a:ext cx="8148019" cy="4955203"/>
          </a:xfrm>
          <a:prstGeom prst="rect">
            <a:avLst/>
          </a:prstGeom>
          <a:noFill/>
        </p:spPr>
        <p:txBody>
          <a:bodyPr wrap="square">
            <a:spAutoFit/>
          </a:bodyPr>
          <a:lstStyle/>
          <a:p>
            <a:pPr marL="628650" lvl="1" indent="-171450" fontAlgn="base">
              <a:buFont typeface="Arial" panose="020B0604020202020204" pitchFamily="34" charset="0"/>
              <a:buChar char="•"/>
            </a:pPr>
            <a:r>
              <a:rPr lang="en-IN" sz="2000" b="1" dirty="0">
                <a:solidFill>
                  <a:srgbClr val="000000"/>
                </a:solidFill>
              </a:rPr>
              <a:t>D</a:t>
            </a:r>
            <a:r>
              <a:rPr lang="en-IN" sz="2000" b="1" i="0" u="none" strike="noStrike" dirty="0">
                <a:solidFill>
                  <a:srgbClr val="000000"/>
                </a:solidFill>
                <a:effectLst/>
              </a:rPr>
              <a:t>ata transforms on the train set</a:t>
            </a:r>
            <a:endParaRPr lang="en-IN" sz="2000" b="1" i="0" u="none" strike="noStrike" dirty="0">
              <a:solidFill>
                <a:srgbClr val="000000"/>
              </a:solidFill>
              <a:effectLst/>
            </a:endParaRPr>
          </a:p>
          <a:p>
            <a:pPr marL="1200150" lvl="2" indent="-285750" fontAlgn="base">
              <a:buFont typeface="Arial" panose="020B0604020202020204" pitchFamily="34" charset="0"/>
              <a:buChar char="•"/>
            </a:pPr>
            <a:r>
              <a:rPr lang="en-IN" sz="2000" b="1" i="0" u="none" strike="noStrike" dirty="0" err="1">
                <a:solidFill>
                  <a:srgbClr val="000000"/>
                </a:solidFill>
                <a:effectLst/>
              </a:rPr>
              <a:t>RandomHorizontalFlip</a:t>
            </a:r>
            <a:r>
              <a:rPr lang="en-IN" sz="2000" b="1" i="0" u="none" strike="noStrike" dirty="0">
                <a:solidFill>
                  <a:srgbClr val="000000"/>
                </a:solidFill>
                <a:effectLst/>
              </a:rPr>
              <a:t>(p=0.5),</a:t>
            </a:r>
            <a:endParaRPr lang="en-IN" sz="2000" b="1" i="0" u="none" strike="noStrike" dirty="0">
              <a:solidFill>
                <a:srgbClr val="000000"/>
              </a:solidFill>
              <a:effectLst/>
            </a:endParaRPr>
          </a:p>
          <a:p>
            <a:pPr marL="1200150" lvl="2" indent="-285750" fontAlgn="base">
              <a:buFont typeface="Arial" panose="020B0604020202020204" pitchFamily="34" charset="0"/>
              <a:buChar char="•"/>
            </a:pPr>
            <a:r>
              <a:rPr lang="en-IN" sz="2000" b="1" i="0" u="none" strike="noStrike" dirty="0" err="1">
                <a:solidFill>
                  <a:srgbClr val="000000"/>
                </a:solidFill>
                <a:effectLst/>
              </a:rPr>
              <a:t>RandomRotation</a:t>
            </a:r>
            <a:r>
              <a:rPr lang="en-IN" sz="2000" b="1" i="0" u="none" strike="noStrike" dirty="0">
                <a:solidFill>
                  <a:srgbClr val="000000"/>
                </a:solidFill>
                <a:effectLst/>
              </a:rPr>
              <a:t>(degrees=10),</a:t>
            </a:r>
            <a:endParaRPr lang="en-IN" sz="2000" b="1" i="0" u="none" strike="noStrike" dirty="0">
              <a:solidFill>
                <a:srgbClr val="000000"/>
              </a:solidFill>
              <a:effectLst/>
            </a:endParaRPr>
          </a:p>
          <a:p>
            <a:pPr marL="1200150" lvl="2" indent="-285750" fontAlgn="base">
              <a:buFont typeface="Arial" panose="020B0604020202020204" pitchFamily="34" charset="0"/>
              <a:buChar char="•"/>
            </a:pPr>
            <a:r>
              <a:rPr lang="en-IN" sz="2000" b="1" i="0" u="none" strike="noStrike" dirty="0" err="1">
                <a:solidFill>
                  <a:srgbClr val="000000"/>
                </a:solidFill>
                <a:effectLst/>
              </a:rPr>
              <a:t>ColorJitter</a:t>
            </a:r>
            <a:r>
              <a:rPr lang="en-IN" sz="2000" b="1" i="0" u="none" strike="noStrike" dirty="0">
                <a:solidFill>
                  <a:srgbClr val="000000"/>
                </a:solidFill>
                <a:effectLst/>
              </a:rPr>
              <a:t>(brightness=0.1, contrast=0.1,</a:t>
            </a:r>
            <a:endParaRPr lang="en-IN" sz="2000" b="1" i="0" u="none" strike="noStrike" dirty="0">
              <a:solidFill>
                <a:srgbClr val="000000"/>
              </a:solidFill>
              <a:effectLst/>
            </a:endParaRPr>
          </a:p>
          <a:p>
            <a:pPr lvl="2" fontAlgn="base"/>
            <a:r>
              <a:rPr lang="en-IN" sz="2000" b="1" dirty="0">
                <a:solidFill>
                  <a:srgbClr val="000000"/>
                </a:solidFill>
              </a:rPr>
              <a:t>		</a:t>
            </a:r>
            <a:r>
              <a:rPr lang="en-IN" sz="2000" b="1" i="0" u="none" strike="noStrike" dirty="0">
                <a:solidFill>
                  <a:srgbClr val="000000"/>
                </a:solidFill>
                <a:effectLst/>
              </a:rPr>
              <a:t> saturation=0.1, hue=0.05),</a:t>
            </a:r>
            <a:endParaRPr lang="en-IN" sz="2000" b="1" i="0" u="none" strike="noStrike" dirty="0">
              <a:solidFill>
                <a:srgbClr val="000000"/>
              </a:solidFill>
              <a:effectLst/>
            </a:endParaRPr>
          </a:p>
          <a:p>
            <a:pPr marL="1200150" lvl="2" indent="-285750" fontAlgn="base">
              <a:buFont typeface="Arial" panose="020B0604020202020204" pitchFamily="34" charset="0"/>
              <a:buChar char="•"/>
            </a:pPr>
            <a:r>
              <a:rPr lang="en-IN" sz="2000" b="1" i="0" u="none" strike="noStrike" dirty="0" err="1">
                <a:solidFill>
                  <a:srgbClr val="000000"/>
                </a:solidFill>
                <a:effectLst/>
              </a:rPr>
              <a:t>ToTensor</a:t>
            </a:r>
            <a:r>
              <a:rPr lang="en-IN" sz="2000" b="1" i="0" u="none" strike="noStrike" dirty="0">
                <a:solidFill>
                  <a:srgbClr val="000000"/>
                </a:solidFill>
                <a:effectLst/>
              </a:rPr>
              <a:t>(),</a:t>
            </a:r>
            <a:endParaRPr lang="en-IN" sz="2000" b="1" i="0" u="none" strike="noStrike" dirty="0">
              <a:solidFill>
                <a:srgbClr val="000000"/>
              </a:solidFill>
              <a:effectLst/>
            </a:endParaRPr>
          </a:p>
          <a:p>
            <a:pPr marL="1200150" lvl="2" indent="-285750" fontAlgn="base">
              <a:buFont typeface="Arial" panose="020B0604020202020204" pitchFamily="34" charset="0"/>
              <a:buChar char="•"/>
            </a:pPr>
            <a:r>
              <a:rPr lang="en-IN" sz="2000" b="1" i="0" u="none" strike="noStrike" dirty="0">
                <a:solidFill>
                  <a:srgbClr val="000000"/>
                </a:solidFill>
                <a:effectLst/>
              </a:rPr>
              <a:t>Normalize(mean</a:t>
            </a:r>
            <a:r>
              <a:rPr lang="en-IN" b="1" dirty="0"/>
              <a:t>[0.5088, 0.3543, 0.3055]</a:t>
            </a:r>
            <a:r>
              <a:rPr lang="en-IN" sz="1600" b="1" dirty="0"/>
              <a:t>,</a:t>
            </a:r>
            <a:endParaRPr lang="en-IN" sz="1600" b="1" dirty="0"/>
          </a:p>
          <a:p>
            <a:pPr lvl="1"/>
            <a:r>
              <a:rPr lang="en-IN" b="1" dirty="0"/>
              <a:t>                                    std=</a:t>
            </a:r>
            <a:r>
              <a:rPr lang="en-IN" sz="2000" b="1" dirty="0"/>
              <a:t>[0.2845, 0.2283, 0.2253]</a:t>
            </a:r>
            <a:r>
              <a:rPr lang="en-IN" b="1" dirty="0"/>
              <a:t>)</a:t>
            </a:r>
            <a:endParaRPr lang="en-IN" b="1" dirty="0"/>
          </a:p>
          <a:p>
            <a:pPr lvl="1"/>
            <a:endParaRPr lang="en-IN" b="1" dirty="0">
              <a:latin typeface="+mj-lt"/>
            </a:endParaRPr>
          </a:p>
          <a:p>
            <a:pPr marL="742950" lvl="1" indent="-285750">
              <a:buFont typeface="Arial" panose="020B0604020202020204" pitchFamily="34" charset="0"/>
              <a:buChar char="•"/>
            </a:pPr>
            <a:r>
              <a:rPr lang="en-US" sz="2000" b="1" dirty="0"/>
              <a:t>Removed the Benign and OSF images from the image dataset</a:t>
            </a:r>
            <a:endParaRPr lang="en-US" sz="2000" b="1" dirty="0"/>
          </a:p>
          <a:p>
            <a:pPr marL="742950" lvl="1" indent="-285750">
              <a:buFont typeface="Arial" panose="020B0604020202020204" pitchFamily="34" charset="0"/>
              <a:buChar char="•"/>
            </a:pPr>
            <a:r>
              <a:rPr lang="en-US" sz="2000" b="1" dirty="0"/>
              <a:t>Learning Rate = 1e-4</a:t>
            </a:r>
            <a:endParaRPr lang="en-US" sz="2000" b="1" dirty="0"/>
          </a:p>
          <a:p>
            <a:pPr marL="742950" lvl="1" indent="-285750">
              <a:lnSpc>
                <a:spcPct val="150000"/>
              </a:lnSpc>
              <a:buFont typeface="Arial" panose="020B0604020202020204" pitchFamily="34" charset="0"/>
              <a:buChar char="•"/>
            </a:pPr>
            <a:r>
              <a:rPr lang="en-IN" sz="2000" b="1" dirty="0"/>
              <a:t>Criterion   </a:t>
            </a:r>
            <a:r>
              <a:rPr lang="en-IN" sz="2000" b="1" dirty="0">
                <a:sym typeface="Wingdings" panose="05000000000000000000" pitchFamily="2" charset="2"/>
              </a:rPr>
              <a:t> Weighted Cross Entropy Loss</a:t>
            </a:r>
            <a:endParaRPr lang="en-IN" sz="2000" b="0" dirty="0">
              <a:effectLst/>
            </a:endParaRPr>
          </a:p>
          <a:p>
            <a:pPr marL="742950" lvl="1" indent="-285750">
              <a:lnSpc>
                <a:spcPct val="150000"/>
              </a:lnSpc>
              <a:buFont typeface="Arial" panose="020B0604020202020204" pitchFamily="34" charset="0"/>
              <a:buChar char="•"/>
            </a:pPr>
            <a:r>
              <a:rPr lang="en-IN" sz="2000" b="1" dirty="0"/>
              <a:t>Optimizer </a:t>
            </a:r>
            <a:r>
              <a:rPr lang="en-IN" sz="2000" b="1" dirty="0">
                <a:sym typeface="Wingdings" panose="05000000000000000000" pitchFamily="2" charset="2"/>
              </a:rPr>
              <a:t> Adam / </a:t>
            </a:r>
            <a:r>
              <a:rPr lang="en-IN" sz="2000" b="1" dirty="0" err="1">
                <a:sym typeface="Wingdings" panose="05000000000000000000" pitchFamily="2" charset="2"/>
              </a:rPr>
              <a:t>AdamW</a:t>
            </a:r>
            <a:r>
              <a:rPr lang="en-IN" sz="2000" b="1" dirty="0"/>
              <a:t> , Scheduler </a:t>
            </a:r>
            <a:r>
              <a:rPr lang="en-IN" sz="2000" b="1" dirty="0">
                <a:sym typeface="Wingdings" panose="05000000000000000000" pitchFamily="2" charset="2"/>
              </a:rPr>
              <a:t> </a:t>
            </a:r>
            <a:r>
              <a:rPr lang="en-IN" sz="2000" b="1" dirty="0" err="1"/>
              <a:t>CosineAnnealingLR</a:t>
            </a:r>
            <a:endParaRPr lang="en-IN" sz="2000" dirty="0"/>
          </a:p>
          <a:p>
            <a:pPr marL="742950" lvl="1" indent="-285750">
              <a:buFont typeface="Arial" panose="020B0604020202020204" pitchFamily="34" charset="0"/>
              <a:buChar char="•"/>
            </a:pPr>
            <a:endParaRPr lang="en-US" sz="2000" b="1" dirty="0"/>
          </a:p>
          <a:p>
            <a:endParaRPr lang="en-IN" dirty="0">
              <a:latin typeface="+mj-lt"/>
            </a:endParaRPr>
          </a:p>
        </p:txBody>
      </p:sp>
      <p:pic>
        <p:nvPicPr>
          <p:cNvPr id="409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491196" y="1240011"/>
            <a:ext cx="2553841" cy="3504107"/>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45037" y="1275463"/>
            <a:ext cx="2706789" cy="342540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2423" y="815547"/>
            <a:ext cx="11788346" cy="484384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4139513" y="5189839"/>
            <a:ext cx="852617" cy="358346"/>
          </a:xfrm>
          <a:prstGeom prst="rect">
            <a:avLst/>
          </a:prstGeom>
          <a:noFill/>
          <a:ln w="38100">
            <a:solidFill>
              <a:srgbClr val="00B050"/>
            </a:solidFill>
          </a:ln>
        </p:spPr>
        <p:txBody>
          <a:bodyPr wrap="square" rtlCol="0">
            <a:spAutoFit/>
          </a:bodyPr>
          <a:lstStyle/>
          <a:p>
            <a:endParaRPr lang="en-IN" dirty="0"/>
          </a:p>
        </p:txBody>
      </p:sp>
      <p:sp>
        <p:nvSpPr>
          <p:cNvPr id="6" name="TextBox 5"/>
          <p:cNvSpPr txBox="1"/>
          <p:nvPr/>
        </p:nvSpPr>
        <p:spPr>
          <a:xfrm>
            <a:off x="5276336" y="5189839"/>
            <a:ext cx="852617" cy="358346"/>
          </a:xfrm>
          <a:prstGeom prst="rect">
            <a:avLst/>
          </a:prstGeom>
          <a:noFill/>
          <a:ln w="38100">
            <a:solidFill>
              <a:srgbClr val="00B050"/>
            </a:solidFill>
          </a:ln>
        </p:spPr>
        <p:txBody>
          <a:bodyPr wrap="square" rtlCol="0">
            <a:spAutoFit/>
          </a:bodyPr>
          <a:lstStyle/>
          <a:p>
            <a:endParaRPr lang="en-IN" dirty="0"/>
          </a:p>
        </p:txBody>
      </p:sp>
      <p:sp>
        <p:nvSpPr>
          <p:cNvPr id="7" name="TextBox 6"/>
          <p:cNvSpPr txBox="1"/>
          <p:nvPr/>
        </p:nvSpPr>
        <p:spPr>
          <a:xfrm>
            <a:off x="8217243" y="5189839"/>
            <a:ext cx="852617" cy="358346"/>
          </a:xfrm>
          <a:prstGeom prst="rect">
            <a:avLst/>
          </a:prstGeom>
          <a:noFill/>
          <a:ln w="38100">
            <a:solidFill>
              <a:srgbClr val="00B050"/>
            </a:solidFill>
          </a:ln>
        </p:spPr>
        <p:txBody>
          <a:bodyPr wrap="square" rtlCol="0">
            <a:spAutoFit/>
          </a:bodyPr>
          <a:lstStyle/>
          <a:p>
            <a:endParaRPr lang="en-IN" dirty="0"/>
          </a:p>
        </p:txBody>
      </p:sp>
      <p:sp>
        <p:nvSpPr>
          <p:cNvPr id="8" name="TextBox 7"/>
          <p:cNvSpPr txBox="1"/>
          <p:nvPr/>
        </p:nvSpPr>
        <p:spPr>
          <a:xfrm>
            <a:off x="7331680" y="4197179"/>
            <a:ext cx="852617" cy="358346"/>
          </a:xfrm>
          <a:prstGeom prst="rect">
            <a:avLst/>
          </a:prstGeom>
          <a:noFill/>
          <a:ln w="38100">
            <a:solidFill>
              <a:srgbClr val="00B050"/>
            </a:solidFill>
          </a:ln>
        </p:spPr>
        <p:txBody>
          <a:bodyPr wrap="square" rtlCol="0">
            <a:spAutoFit/>
          </a:bodyPr>
          <a:lstStyle/>
          <a:p>
            <a:endParaRPr lang="en-IN" dirty="0"/>
          </a:p>
        </p:txBody>
      </p:sp>
      <p:sp>
        <p:nvSpPr>
          <p:cNvPr id="9" name="TextBox 8"/>
          <p:cNvSpPr txBox="1"/>
          <p:nvPr/>
        </p:nvSpPr>
        <p:spPr>
          <a:xfrm>
            <a:off x="8141049" y="2327191"/>
            <a:ext cx="852617" cy="358346"/>
          </a:xfrm>
          <a:prstGeom prst="rect">
            <a:avLst/>
          </a:prstGeom>
          <a:noFill/>
          <a:ln w="38100">
            <a:solidFill>
              <a:srgbClr val="00B050"/>
            </a:solidFill>
          </a:ln>
        </p:spPr>
        <p:txBody>
          <a:bodyPr wrap="square" rtlCol="0">
            <a:spAutoFit/>
          </a:bodyPr>
          <a:lstStyle/>
          <a:p>
            <a:endParaRPr lang="en-IN" dirty="0"/>
          </a:p>
        </p:txBody>
      </p:sp>
      <p:sp>
        <p:nvSpPr>
          <p:cNvPr id="10" name="TextBox 9"/>
          <p:cNvSpPr txBox="1"/>
          <p:nvPr/>
        </p:nvSpPr>
        <p:spPr>
          <a:xfrm>
            <a:off x="6433753" y="4687331"/>
            <a:ext cx="852617" cy="358346"/>
          </a:xfrm>
          <a:prstGeom prst="rect">
            <a:avLst/>
          </a:prstGeom>
          <a:noFill/>
          <a:ln w="38100">
            <a:solidFill>
              <a:srgbClr val="00B050"/>
            </a:solidFill>
          </a:ln>
        </p:spPr>
        <p:txBody>
          <a:bodyPr wrap="square" rtlCol="0">
            <a:spAutoFit/>
          </a:bodyPr>
          <a:lstStyle/>
          <a:p>
            <a:endParaRPr lang="en-IN" dirty="0"/>
          </a:p>
        </p:txBody>
      </p:sp>
      <p:sp>
        <p:nvSpPr>
          <p:cNvPr id="12" name="TextBox 11"/>
          <p:cNvSpPr txBox="1"/>
          <p:nvPr/>
        </p:nvSpPr>
        <p:spPr>
          <a:xfrm>
            <a:off x="10305533" y="5198078"/>
            <a:ext cx="852617" cy="358346"/>
          </a:xfrm>
          <a:prstGeom prst="rect">
            <a:avLst/>
          </a:prstGeom>
          <a:noFill/>
          <a:ln w="38100">
            <a:solidFill>
              <a:srgbClr val="00B050"/>
            </a:solidFill>
          </a:ln>
        </p:spPr>
        <p:txBody>
          <a:bodyPr wrap="square" rtlCol="0">
            <a:spAutoFit/>
          </a:bodyPr>
          <a:lstStyle/>
          <a:p>
            <a:endParaRPr lang="en-IN"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51269" y="239965"/>
            <a:ext cx="11510072" cy="6740307"/>
          </a:xfrm>
          <a:prstGeom prst="rect">
            <a:avLst/>
          </a:prstGeom>
          <a:noFill/>
        </p:spPr>
        <p:txBody>
          <a:bodyPr wrap="square">
            <a:spAutoFit/>
          </a:bodyPr>
          <a:lstStyle/>
          <a:p>
            <a:pPr marL="342900" indent="-342900" rtl="0">
              <a:buAutoNum type="arabicPeriod"/>
            </a:pPr>
            <a:r>
              <a:rPr lang="en-IN" b="1" i="0" u="none" strike="noStrike" dirty="0" err="1">
                <a:solidFill>
                  <a:srgbClr val="000000"/>
                </a:solidFill>
                <a:effectLst/>
                <a:latin typeface="Arial" panose="020B0604020202020204" pitchFamily="34" charset="0"/>
              </a:rPr>
              <a:t>ConvNeXt</a:t>
            </a:r>
            <a:r>
              <a:rPr lang="en-IN" b="1" i="0" u="none" strike="noStrike" dirty="0">
                <a:solidFill>
                  <a:srgbClr val="000000"/>
                </a:solidFill>
                <a:effectLst/>
                <a:latin typeface="Arial" panose="020B0604020202020204" pitchFamily="34" charset="0"/>
              </a:rPr>
              <a:t> - </a:t>
            </a:r>
            <a:r>
              <a:rPr lang="en-IN" b="1" i="0" u="none" strike="noStrike" dirty="0" err="1">
                <a:solidFill>
                  <a:srgbClr val="000000"/>
                </a:solidFill>
                <a:effectLst/>
                <a:latin typeface="Arial" panose="020B0604020202020204" pitchFamily="34" charset="0"/>
              </a:rPr>
              <a:t>AdamW</a:t>
            </a:r>
            <a:r>
              <a:rPr lang="en-IN" b="1" i="0" u="none" strike="noStrike" dirty="0">
                <a:solidFill>
                  <a:srgbClr val="000000"/>
                </a:solidFill>
                <a:effectLst/>
                <a:latin typeface="Arial" panose="020B0604020202020204" pitchFamily="34" charset="0"/>
              </a:rPr>
              <a:t> + </a:t>
            </a:r>
            <a:r>
              <a:rPr lang="en-IN" b="1" i="0" u="none" strike="noStrike" dirty="0" err="1">
                <a:solidFill>
                  <a:srgbClr val="000000"/>
                </a:solidFill>
                <a:effectLst/>
                <a:latin typeface="Arial" panose="020B0604020202020204" pitchFamily="34" charset="0"/>
              </a:rPr>
              <a:t>CosineAnnealingLR</a:t>
            </a:r>
            <a:endParaRPr lang="en-IN" b="1" i="0" u="none" strike="noStrike" dirty="0">
              <a:solidFill>
                <a:srgbClr val="000000"/>
              </a:solidFill>
              <a:effectLst/>
              <a:latin typeface="Arial" panose="020B0604020202020204" pitchFamily="34" charset="0"/>
            </a:endParaRPr>
          </a:p>
          <a:p>
            <a:pPr rtl="0"/>
            <a:endParaRPr lang="en-IN" sz="1600" b="0" dirty="0">
              <a:effectLst/>
            </a:endParaRPr>
          </a:p>
          <a:p>
            <a:pPr marL="742950" lvl="1" indent="-285750">
              <a:buFont typeface="Arial" panose="020B0604020202020204" pitchFamily="34" charset="0"/>
              <a:buChar char="•"/>
            </a:pPr>
            <a:r>
              <a:rPr lang="en-IN" sz="1600" b="1" i="0" u="none" strike="noStrike" dirty="0">
                <a:solidFill>
                  <a:srgbClr val="000000"/>
                </a:solidFill>
                <a:effectLst/>
                <a:latin typeface="Arial" panose="020B0604020202020204" pitchFamily="34" charset="0"/>
              </a:rPr>
              <a:t>Test Accuracy: 62.6%</a:t>
            </a:r>
            <a:endParaRPr lang="en-IN" sz="1600" b="0" dirty="0">
              <a:effectLst/>
            </a:endParaRPr>
          </a:p>
          <a:p>
            <a:pPr marL="742950" lvl="1" indent="-285750">
              <a:buFont typeface="Arial" panose="020B0604020202020204" pitchFamily="34" charset="0"/>
              <a:buChar char="•"/>
            </a:pPr>
            <a:r>
              <a:rPr lang="en-IN" sz="1600" b="1" i="0" u="none" strike="noStrike" dirty="0">
                <a:solidFill>
                  <a:srgbClr val="000000"/>
                </a:solidFill>
                <a:effectLst/>
                <a:latin typeface="Arial" panose="020B0604020202020204" pitchFamily="34" charset="0"/>
              </a:rPr>
              <a:t>Highest Validation Accuracy: 67.1% (best generalization)</a:t>
            </a:r>
            <a:endParaRPr lang="en-IN" sz="1600" b="0" dirty="0">
              <a:effectLst/>
            </a:endParaRPr>
          </a:p>
          <a:p>
            <a:pPr marL="742950" lvl="1" indent="-285750">
              <a:buFont typeface="Arial" panose="020B0604020202020204" pitchFamily="34" charset="0"/>
              <a:buChar char="•"/>
            </a:pPr>
            <a:r>
              <a:rPr lang="en-IN" sz="1600" b="1" i="0" u="none" strike="noStrike" dirty="0">
                <a:solidFill>
                  <a:srgbClr val="000000"/>
                </a:solidFill>
                <a:effectLst/>
                <a:latin typeface="Arial" panose="020B0604020202020204" pitchFamily="34" charset="0"/>
              </a:rPr>
              <a:t>Best Weighted F1: 0.62</a:t>
            </a:r>
            <a:endParaRPr lang="en-IN" sz="1600" b="0" dirty="0">
              <a:effectLst/>
            </a:endParaRPr>
          </a:p>
          <a:p>
            <a:pPr marL="742950" lvl="1" indent="-285750">
              <a:buFont typeface="Arial" panose="020B0604020202020204" pitchFamily="34" charset="0"/>
              <a:buChar char="•"/>
            </a:pPr>
            <a:r>
              <a:rPr lang="en-IN" sz="1600" b="1" i="0" u="none" strike="noStrike" dirty="0">
                <a:solidFill>
                  <a:srgbClr val="000000"/>
                </a:solidFill>
                <a:effectLst/>
                <a:latin typeface="Arial" panose="020B0604020202020204" pitchFamily="34" charset="0"/>
              </a:rPr>
              <a:t>Most balanced and reliable performance</a:t>
            </a:r>
            <a:endParaRPr lang="en-IN" sz="1600" i="0" u="none" strike="noStrike" dirty="0">
              <a:solidFill>
                <a:srgbClr val="000000"/>
              </a:solidFill>
              <a:latin typeface="Arial" panose="020B0604020202020204" pitchFamily="34" charset="0"/>
            </a:endParaRPr>
          </a:p>
          <a:p>
            <a:pPr rtl="0">
              <a:buNone/>
            </a:pPr>
            <a:endParaRPr lang="en-IN" sz="1600" b="0" dirty="0">
              <a:effectLst/>
            </a:endParaRPr>
          </a:p>
          <a:p>
            <a:pPr rtl="0">
              <a:buNone/>
            </a:pPr>
            <a:r>
              <a:rPr lang="en-IN" sz="1600" b="1" i="0" u="none" strike="noStrike" dirty="0">
                <a:solidFill>
                  <a:srgbClr val="000000"/>
                </a:solidFill>
                <a:effectLst/>
                <a:latin typeface="Arial" panose="020B0604020202020204" pitchFamily="34" charset="0"/>
              </a:rPr>
              <a:t>2. </a:t>
            </a:r>
            <a:r>
              <a:rPr lang="en-IN" b="1" i="0" u="none" strike="noStrike" dirty="0">
                <a:solidFill>
                  <a:srgbClr val="000000"/>
                </a:solidFill>
                <a:effectLst/>
                <a:latin typeface="Arial" panose="020B0604020202020204" pitchFamily="34" charset="0"/>
              </a:rPr>
              <a:t>ViT_b_16 - </a:t>
            </a:r>
            <a:r>
              <a:rPr lang="en-IN" b="1" i="0" u="none" strike="noStrike" dirty="0" err="1">
                <a:solidFill>
                  <a:srgbClr val="000000"/>
                </a:solidFill>
                <a:effectLst/>
                <a:latin typeface="Arial" panose="020B0604020202020204" pitchFamily="34" charset="0"/>
              </a:rPr>
              <a:t>AdamW</a:t>
            </a:r>
            <a:r>
              <a:rPr lang="en-IN" b="1" i="0" u="none" strike="noStrike" dirty="0">
                <a:solidFill>
                  <a:srgbClr val="000000"/>
                </a:solidFill>
                <a:effectLst/>
                <a:latin typeface="Arial" panose="020B0604020202020204" pitchFamily="34" charset="0"/>
              </a:rPr>
              <a:t> + </a:t>
            </a:r>
            <a:r>
              <a:rPr lang="en-IN" b="1" i="0" u="none" strike="noStrike" dirty="0" err="1">
                <a:solidFill>
                  <a:srgbClr val="000000"/>
                </a:solidFill>
                <a:effectLst/>
                <a:latin typeface="Arial" panose="020B0604020202020204" pitchFamily="34" charset="0"/>
              </a:rPr>
              <a:t>CosineAnnealingLR</a:t>
            </a:r>
            <a:endParaRPr lang="en-IN" b="1" i="0" u="none" strike="noStrike" dirty="0">
              <a:solidFill>
                <a:srgbClr val="000000"/>
              </a:solidFill>
              <a:effectLst/>
              <a:latin typeface="Arial" panose="020B0604020202020204" pitchFamily="34" charset="0"/>
            </a:endParaRPr>
          </a:p>
          <a:p>
            <a:pPr rtl="0">
              <a:buNone/>
            </a:pPr>
            <a:endParaRPr lang="en-IN" sz="1600" b="0" dirty="0">
              <a:effectLst/>
            </a:endParaRPr>
          </a:p>
          <a:p>
            <a:pPr marL="742950" lvl="1" indent="-285750">
              <a:buFont typeface="Arial" panose="020B0604020202020204" pitchFamily="34" charset="0"/>
              <a:buChar char="•"/>
            </a:pPr>
            <a:r>
              <a:rPr lang="en-IN" sz="1600" b="1" i="0" u="none" strike="noStrike" dirty="0">
                <a:solidFill>
                  <a:srgbClr val="000000"/>
                </a:solidFill>
                <a:effectLst/>
                <a:latin typeface="Arial" panose="020B0604020202020204" pitchFamily="34" charset="0"/>
              </a:rPr>
              <a:t>Test Accuracy: 62.2%</a:t>
            </a:r>
            <a:endParaRPr lang="en-IN" sz="1600" b="0" dirty="0">
              <a:effectLst/>
            </a:endParaRPr>
          </a:p>
          <a:p>
            <a:pPr marL="742950" lvl="1" indent="-285750">
              <a:buFont typeface="Arial" panose="020B0604020202020204" pitchFamily="34" charset="0"/>
              <a:buChar char="•"/>
            </a:pPr>
            <a:r>
              <a:rPr lang="en-IN" sz="1600" b="1" i="0" u="none" strike="noStrike" dirty="0">
                <a:solidFill>
                  <a:srgbClr val="000000"/>
                </a:solidFill>
                <a:effectLst/>
                <a:latin typeface="Arial" panose="020B0604020202020204" pitchFamily="34" charset="0"/>
              </a:rPr>
              <a:t>Validation Accuracy: 54.4%</a:t>
            </a:r>
            <a:endParaRPr lang="en-IN" sz="1600" b="0" dirty="0">
              <a:effectLst/>
            </a:endParaRPr>
          </a:p>
          <a:p>
            <a:pPr marL="742950" lvl="1" indent="-285750">
              <a:buFont typeface="Arial" panose="020B0604020202020204" pitchFamily="34" charset="0"/>
              <a:buChar char="•"/>
            </a:pPr>
            <a:r>
              <a:rPr lang="en-IN" sz="1600" b="1" i="0" u="none" strike="noStrike" dirty="0">
                <a:solidFill>
                  <a:srgbClr val="000000"/>
                </a:solidFill>
                <a:effectLst/>
                <a:latin typeface="Arial" panose="020B0604020202020204" pitchFamily="34" charset="0"/>
              </a:rPr>
              <a:t>Best Healthy detection (F1: 0.74)</a:t>
            </a:r>
            <a:endParaRPr lang="en-IN" sz="1600" b="0" dirty="0">
              <a:effectLst/>
            </a:endParaRPr>
          </a:p>
          <a:p>
            <a:pPr marL="742950" lvl="1" indent="-285750">
              <a:buFont typeface="Arial" panose="020B0604020202020204" pitchFamily="34" charset="0"/>
              <a:buChar char="•"/>
            </a:pPr>
            <a:r>
              <a:rPr lang="en-IN" sz="1600" b="1" i="0" u="none" strike="noStrike" dirty="0">
                <a:solidFill>
                  <a:srgbClr val="000000"/>
                </a:solidFill>
                <a:effectLst/>
                <a:latin typeface="Arial" panose="020B0604020202020204" pitchFamily="34" charset="0"/>
              </a:rPr>
              <a:t>Strong overall performance despite lower validation</a:t>
            </a:r>
            <a:endParaRPr lang="en-IN" sz="1600" b="0" dirty="0">
              <a:effectLst/>
            </a:endParaRPr>
          </a:p>
          <a:p>
            <a:pPr>
              <a:buNone/>
            </a:pPr>
            <a:endParaRPr lang="en-IN" sz="1600" b="0" dirty="0">
              <a:effectLst/>
            </a:endParaRPr>
          </a:p>
          <a:p>
            <a:pPr rtl="0">
              <a:buNone/>
            </a:pPr>
            <a:r>
              <a:rPr lang="en-IN" sz="1600" b="1" i="0" u="none" strike="noStrike" dirty="0">
                <a:solidFill>
                  <a:srgbClr val="000000"/>
                </a:solidFill>
                <a:effectLst/>
                <a:latin typeface="Arial" panose="020B0604020202020204" pitchFamily="34" charset="0"/>
              </a:rPr>
              <a:t>3. </a:t>
            </a:r>
            <a:r>
              <a:rPr lang="en-IN" b="1" i="0" u="none" strike="noStrike" dirty="0">
                <a:solidFill>
                  <a:srgbClr val="000000"/>
                </a:solidFill>
                <a:effectLst/>
                <a:latin typeface="Arial" panose="020B0604020202020204" pitchFamily="34" charset="0"/>
              </a:rPr>
              <a:t>ResNet50 - </a:t>
            </a:r>
            <a:r>
              <a:rPr lang="en-IN" b="1" i="0" u="none" strike="noStrike" dirty="0" err="1">
                <a:solidFill>
                  <a:srgbClr val="000000"/>
                </a:solidFill>
                <a:effectLst/>
                <a:latin typeface="Arial" panose="020B0604020202020204" pitchFamily="34" charset="0"/>
              </a:rPr>
              <a:t>AdamW</a:t>
            </a:r>
            <a:r>
              <a:rPr lang="en-IN" b="1" i="0" u="none" strike="noStrike" dirty="0">
                <a:solidFill>
                  <a:srgbClr val="000000"/>
                </a:solidFill>
                <a:effectLst/>
                <a:latin typeface="Arial" panose="020B0604020202020204" pitchFamily="34" charset="0"/>
              </a:rPr>
              <a:t> + </a:t>
            </a:r>
            <a:r>
              <a:rPr lang="en-IN" b="1" i="0" u="none" strike="noStrike" dirty="0" err="1">
                <a:solidFill>
                  <a:srgbClr val="000000"/>
                </a:solidFill>
                <a:effectLst/>
                <a:latin typeface="Arial" panose="020B0604020202020204" pitchFamily="34" charset="0"/>
              </a:rPr>
              <a:t>CosineAnnealingLR</a:t>
            </a:r>
            <a:endParaRPr lang="en-IN" b="1" i="0" u="none" strike="noStrike" dirty="0">
              <a:solidFill>
                <a:srgbClr val="000000"/>
              </a:solidFill>
              <a:effectLst/>
              <a:latin typeface="Arial" panose="020B0604020202020204" pitchFamily="34" charset="0"/>
            </a:endParaRPr>
          </a:p>
          <a:p>
            <a:pPr lvl="1"/>
            <a:endParaRPr lang="en-IN" sz="1600" b="0" dirty="0">
              <a:effectLst/>
            </a:endParaRPr>
          </a:p>
          <a:p>
            <a:pPr marL="742950" lvl="1" indent="-285750">
              <a:buFont typeface="Arial" panose="020B0604020202020204" pitchFamily="34" charset="0"/>
              <a:buChar char="•"/>
            </a:pPr>
            <a:r>
              <a:rPr lang="en-IN" sz="1600" b="1" i="0" u="none" strike="noStrike" dirty="0">
                <a:solidFill>
                  <a:srgbClr val="000000"/>
                </a:solidFill>
                <a:effectLst/>
                <a:latin typeface="Arial" panose="020B0604020202020204" pitchFamily="34" charset="0"/>
              </a:rPr>
              <a:t>Test Accuracy: 61.3%</a:t>
            </a:r>
            <a:endParaRPr lang="en-IN" sz="1600" b="0" dirty="0">
              <a:effectLst/>
            </a:endParaRPr>
          </a:p>
          <a:p>
            <a:pPr marL="742950" lvl="1" indent="-285750">
              <a:buFont typeface="Arial" panose="020B0604020202020204" pitchFamily="34" charset="0"/>
              <a:buChar char="•"/>
            </a:pPr>
            <a:r>
              <a:rPr lang="en-IN" sz="1600" b="1" i="0" u="none" strike="noStrike" dirty="0">
                <a:solidFill>
                  <a:srgbClr val="000000"/>
                </a:solidFill>
                <a:effectLst/>
                <a:latin typeface="Arial" panose="020B0604020202020204" pitchFamily="34" charset="0"/>
              </a:rPr>
              <a:t>Validation Accuracy: 66.2%</a:t>
            </a:r>
            <a:endParaRPr lang="en-IN" sz="1600" b="0" dirty="0">
              <a:effectLst/>
            </a:endParaRPr>
          </a:p>
          <a:p>
            <a:pPr marL="742950" lvl="1" indent="-285750">
              <a:buFont typeface="Arial" panose="020B0604020202020204" pitchFamily="34" charset="0"/>
              <a:buChar char="•"/>
            </a:pPr>
            <a:r>
              <a:rPr lang="en-IN" sz="1600" b="1" i="0" u="none" strike="noStrike" dirty="0">
                <a:solidFill>
                  <a:srgbClr val="000000"/>
                </a:solidFill>
                <a:effectLst/>
                <a:latin typeface="Arial" panose="020B0604020202020204" pitchFamily="34" charset="0"/>
              </a:rPr>
              <a:t>Good OCA detection (F1: 0.50)</a:t>
            </a:r>
            <a:endParaRPr lang="en-IN" sz="1600" b="0" dirty="0">
              <a:effectLst/>
            </a:endParaRPr>
          </a:p>
          <a:p>
            <a:pPr marL="742950" lvl="1" indent="-285750">
              <a:buFont typeface="Arial" panose="020B0604020202020204" pitchFamily="34" charset="0"/>
              <a:buChar char="•"/>
            </a:pPr>
            <a:r>
              <a:rPr lang="en-IN" sz="1600" b="1" i="0" u="none" strike="noStrike" dirty="0">
                <a:solidFill>
                  <a:srgbClr val="000000"/>
                </a:solidFill>
                <a:effectLst/>
                <a:latin typeface="Arial" panose="020B0604020202020204" pitchFamily="34" charset="0"/>
              </a:rPr>
              <a:t>Consistent performance</a:t>
            </a:r>
            <a:br>
              <a:rPr lang="en-IN" sz="1600" b="0" dirty="0">
                <a:effectLst/>
              </a:rPr>
            </a:br>
            <a:endParaRPr lang="en-IN" sz="1600" b="0" u="sng" dirty="0">
              <a:effectLst/>
            </a:endParaRPr>
          </a:p>
          <a:p>
            <a:pPr rtl="0">
              <a:buNone/>
            </a:pPr>
            <a:r>
              <a:rPr lang="en-IN" sz="2000" b="1" i="0" u="sng" dirty="0">
                <a:solidFill>
                  <a:srgbClr val="000000"/>
                </a:solidFill>
                <a:effectLst/>
                <a:latin typeface="Arial" panose="020B0604020202020204" pitchFamily="34" charset="0"/>
              </a:rPr>
              <a:t>Training Configuration Impact</a:t>
            </a:r>
            <a:endParaRPr lang="en-IN" sz="2000" b="1" i="0" u="sng" dirty="0">
              <a:solidFill>
                <a:srgbClr val="000000"/>
              </a:solidFill>
              <a:effectLst/>
              <a:latin typeface="Arial" panose="020B0604020202020204" pitchFamily="34" charset="0"/>
            </a:endParaRPr>
          </a:p>
          <a:p>
            <a:pPr marL="742950" lvl="1" indent="-285750">
              <a:buFont typeface="Arial" panose="020B0604020202020204" pitchFamily="34" charset="0"/>
              <a:buChar char="•"/>
            </a:pPr>
            <a:endParaRPr lang="en-IN" sz="1600" b="0" dirty="0">
              <a:effectLst/>
            </a:endParaRPr>
          </a:p>
          <a:p>
            <a:pPr marL="742950" lvl="1" indent="-285750">
              <a:buFont typeface="Arial" panose="020B0604020202020204" pitchFamily="34" charset="0"/>
              <a:buChar char="•"/>
            </a:pPr>
            <a:r>
              <a:rPr lang="en-IN" sz="1600" b="1" i="0" u="none" strike="noStrike" dirty="0" err="1">
                <a:solidFill>
                  <a:srgbClr val="000000"/>
                </a:solidFill>
                <a:effectLst/>
                <a:latin typeface="Arial" panose="020B0604020202020204" pitchFamily="34" charset="0"/>
              </a:rPr>
              <a:t>AdamW</a:t>
            </a:r>
            <a:r>
              <a:rPr lang="en-IN" sz="1600" b="1" i="0" u="none" strike="noStrike" dirty="0">
                <a:solidFill>
                  <a:srgbClr val="000000"/>
                </a:solidFill>
                <a:effectLst/>
                <a:latin typeface="Arial" panose="020B0604020202020204" pitchFamily="34" charset="0"/>
              </a:rPr>
              <a:t> + </a:t>
            </a:r>
            <a:r>
              <a:rPr lang="en-IN" sz="1600" b="1" i="0" u="none" strike="noStrike" dirty="0" err="1">
                <a:solidFill>
                  <a:srgbClr val="000000"/>
                </a:solidFill>
                <a:effectLst/>
                <a:latin typeface="Arial" panose="020B0604020202020204" pitchFamily="34" charset="0"/>
              </a:rPr>
              <a:t>CosineAnnealingLR</a:t>
            </a:r>
            <a:r>
              <a:rPr lang="en-IN" sz="1600" b="1" i="0" u="none" strike="noStrike" dirty="0">
                <a:solidFill>
                  <a:srgbClr val="000000"/>
                </a:solidFill>
                <a:effectLst/>
                <a:latin typeface="Arial" panose="020B0604020202020204" pitchFamily="34" charset="0"/>
              </a:rPr>
              <a:t> generally outperforms basic Adam</a:t>
            </a:r>
            <a:endParaRPr lang="en-IN" sz="1600" b="0" dirty="0">
              <a:effectLst/>
            </a:endParaRPr>
          </a:p>
          <a:p>
            <a:pPr marL="742950" lvl="1" indent="-285750">
              <a:buFont typeface="Arial" panose="020B0604020202020204" pitchFamily="34" charset="0"/>
              <a:buChar char="•"/>
            </a:pPr>
            <a:r>
              <a:rPr lang="en-IN" sz="1600" b="1" i="0" u="none" strike="noStrike" dirty="0">
                <a:solidFill>
                  <a:srgbClr val="000000"/>
                </a:solidFill>
                <a:effectLst/>
                <a:latin typeface="Arial" panose="020B0604020202020204" pitchFamily="34" charset="0"/>
              </a:rPr>
              <a:t>ResNet50 shows significant improvement with better optimization (+3.6% accuracy)</a:t>
            </a:r>
            <a:endParaRPr lang="en-IN" sz="1600" b="0" dirty="0">
              <a:effectLst/>
            </a:endParaRPr>
          </a:p>
          <a:p>
            <a:pPr>
              <a:buNone/>
            </a:pPr>
            <a:endParaRPr lang="en-IN" sz="1600" b="0" dirty="0">
              <a:effectLs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58347" y="184989"/>
            <a:ext cx="10367318" cy="6863417"/>
          </a:xfrm>
          <a:prstGeom prst="rect">
            <a:avLst/>
          </a:prstGeom>
          <a:noFill/>
        </p:spPr>
        <p:txBody>
          <a:bodyPr wrap="square">
            <a:spAutoFit/>
          </a:bodyPr>
          <a:lstStyle/>
          <a:p>
            <a:br>
              <a:rPr lang="en-IN" sz="2000" b="0" dirty="0">
                <a:effectLst/>
              </a:rPr>
            </a:br>
            <a:r>
              <a:rPr lang="en-IN" sz="2000" b="1" u="sng" dirty="0">
                <a:solidFill>
                  <a:srgbClr val="000000"/>
                </a:solidFill>
                <a:latin typeface="Arial" panose="020B0604020202020204" pitchFamily="34" charset="0"/>
              </a:rPr>
              <a:t>Class-Wise Performance Analysis</a:t>
            </a:r>
            <a:endParaRPr lang="en-IN" sz="2000" b="1" u="sng" dirty="0">
              <a:solidFill>
                <a:srgbClr val="000000"/>
              </a:solidFill>
              <a:latin typeface="Arial" panose="020B0604020202020204" pitchFamily="34" charset="0"/>
            </a:endParaRPr>
          </a:p>
          <a:p>
            <a:endParaRPr lang="en-IN" sz="2000" dirty="0"/>
          </a:p>
          <a:p>
            <a:pPr marL="742950" lvl="1" indent="-285750">
              <a:buFont typeface="Arial" panose="020B0604020202020204" pitchFamily="34" charset="0"/>
              <a:buChar char="•"/>
            </a:pPr>
            <a:r>
              <a:rPr lang="en-IN" sz="2000" b="1" dirty="0">
                <a:solidFill>
                  <a:srgbClr val="000000"/>
                </a:solidFill>
                <a:latin typeface="Arial" panose="020B0604020202020204" pitchFamily="34" charset="0"/>
              </a:rPr>
              <a:t>Healthy Class:</a:t>
            </a:r>
            <a:endParaRPr lang="en-IN" sz="2000" dirty="0"/>
          </a:p>
          <a:p>
            <a:pPr marL="1200150" lvl="2" indent="-285750">
              <a:buFont typeface="Arial" panose="020B0604020202020204" pitchFamily="34" charset="0"/>
              <a:buChar char="•"/>
            </a:pPr>
            <a:r>
              <a:rPr lang="en-IN" sz="2000" b="1" dirty="0">
                <a:solidFill>
                  <a:srgbClr val="000000"/>
                </a:solidFill>
                <a:latin typeface="Arial" panose="020B0604020202020204" pitchFamily="34" charset="0"/>
              </a:rPr>
              <a:t>Best: ViT_b_16 (F1: 0.74)</a:t>
            </a:r>
            <a:endParaRPr lang="en-IN" sz="2000" dirty="0"/>
          </a:p>
          <a:p>
            <a:pPr marL="1200150" lvl="2" indent="-285750">
              <a:buFont typeface="Arial" panose="020B0604020202020204" pitchFamily="34" charset="0"/>
              <a:buChar char="•"/>
            </a:pPr>
            <a:r>
              <a:rPr lang="en-IN" sz="2000" b="1" dirty="0">
                <a:solidFill>
                  <a:srgbClr val="000000"/>
                </a:solidFill>
                <a:latin typeface="Arial" panose="020B0604020202020204" pitchFamily="34" charset="0"/>
              </a:rPr>
              <a:t>All models: F1 &gt; 0.65</a:t>
            </a:r>
            <a:endParaRPr lang="en-IN" sz="2000" dirty="0"/>
          </a:p>
          <a:p>
            <a:pPr rtl="0">
              <a:buNone/>
            </a:pPr>
            <a:endParaRPr lang="en-IN" sz="2000" b="1" dirty="0">
              <a:solidFill>
                <a:srgbClr val="000000"/>
              </a:solidFill>
              <a:latin typeface="Arial" panose="020B0604020202020204" pitchFamily="34" charset="0"/>
            </a:endParaRPr>
          </a:p>
          <a:p>
            <a:pPr marL="742950" lvl="1" indent="-285750">
              <a:buFont typeface="Arial" panose="020B0604020202020204" pitchFamily="34" charset="0"/>
              <a:buChar char="•"/>
            </a:pPr>
            <a:r>
              <a:rPr lang="en-IN" sz="2000" b="1" i="0" u="none" strike="noStrike" dirty="0">
                <a:solidFill>
                  <a:srgbClr val="000000"/>
                </a:solidFill>
                <a:effectLst/>
                <a:latin typeface="Arial" panose="020B0604020202020204" pitchFamily="34" charset="0"/>
              </a:rPr>
              <a:t>OCA (Critical Minority Class):</a:t>
            </a:r>
            <a:endParaRPr lang="en-IN" sz="2000" b="0" dirty="0">
              <a:effectLst/>
            </a:endParaRPr>
          </a:p>
          <a:p>
            <a:pPr marL="1200150" lvl="2" indent="-285750">
              <a:buFont typeface="Arial" panose="020B0604020202020204" pitchFamily="34" charset="0"/>
              <a:buChar char="•"/>
            </a:pPr>
            <a:r>
              <a:rPr lang="en-IN" sz="2000" b="1" i="0" u="none" strike="noStrike" dirty="0">
                <a:solidFill>
                  <a:srgbClr val="000000"/>
                </a:solidFill>
                <a:effectLst/>
                <a:latin typeface="Arial" panose="020B0604020202020204" pitchFamily="34" charset="0"/>
              </a:rPr>
              <a:t>Best: EfficientNet-B3 (F1: 0.55)</a:t>
            </a:r>
            <a:endParaRPr lang="en-IN" sz="2000" b="0" dirty="0">
              <a:effectLst/>
            </a:endParaRPr>
          </a:p>
          <a:p>
            <a:endParaRPr lang="en-IN" sz="2000" b="0" dirty="0">
              <a:effectLst/>
            </a:endParaRPr>
          </a:p>
          <a:p>
            <a:pPr marL="742950" lvl="1" indent="-285750">
              <a:buFont typeface="Arial" panose="020B0604020202020204" pitchFamily="34" charset="0"/>
              <a:buChar char="•"/>
            </a:pPr>
            <a:r>
              <a:rPr lang="en-IN" sz="2000" b="1" i="0" u="none" strike="noStrike" dirty="0">
                <a:solidFill>
                  <a:srgbClr val="000000"/>
                </a:solidFill>
                <a:effectLst/>
                <a:latin typeface="Arial" panose="020B0604020202020204" pitchFamily="34" charset="0"/>
              </a:rPr>
              <a:t>OPMD Class:</a:t>
            </a:r>
            <a:endParaRPr lang="en-IN" sz="2000" b="0" dirty="0">
              <a:effectLst/>
            </a:endParaRPr>
          </a:p>
          <a:p>
            <a:pPr marL="1200150" lvl="2" indent="-285750">
              <a:buFont typeface="Arial" panose="020B0604020202020204" pitchFamily="34" charset="0"/>
              <a:buChar char="•"/>
            </a:pPr>
            <a:r>
              <a:rPr lang="en-IN" sz="2000" b="1" i="0" u="none" strike="noStrike" dirty="0">
                <a:solidFill>
                  <a:srgbClr val="000000"/>
                </a:solidFill>
                <a:effectLst/>
                <a:latin typeface="Arial" panose="020B0604020202020204" pitchFamily="34" charset="0"/>
              </a:rPr>
              <a:t>Best: ResNet50-A &amp; </a:t>
            </a:r>
            <a:r>
              <a:rPr lang="en-IN" sz="2000" b="1" i="0" u="none" strike="noStrike" dirty="0" err="1">
                <a:solidFill>
                  <a:srgbClr val="000000"/>
                </a:solidFill>
                <a:effectLst/>
                <a:latin typeface="Arial" panose="020B0604020202020204" pitchFamily="34" charset="0"/>
              </a:rPr>
              <a:t>ConvNeXt</a:t>
            </a:r>
            <a:r>
              <a:rPr lang="en-IN" sz="2000" b="1" i="0" u="none" strike="noStrike" dirty="0">
                <a:solidFill>
                  <a:srgbClr val="000000"/>
                </a:solidFill>
                <a:effectLst/>
                <a:latin typeface="Arial" panose="020B0604020202020204" pitchFamily="34" charset="0"/>
              </a:rPr>
              <a:t> (F1: 0.57)</a:t>
            </a:r>
            <a:endParaRPr lang="en-IN" sz="2000" b="0" dirty="0">
              <a:effectLst/>
            </a:endParaRPr>
          </a:p>
          <a:p>
            <a:pPr marL="1200150" lvl="2" indent="-285750">
              <a:buFont typeface="Arial" panose="020B0604020202020204" pitchFamily="34" charset="0"/>
              <a:buChar char="•"/>
            </a:pPr>
            <a:r>
              <a:rPr lang="en-IN" sz="2000" b="1" i="0" u="none" strike="noStrike" dirty="0">
                <a:solidFill>
                  <a:srgbClr val="000000"/>
                </a:solidFill>
                <a:effectLst/>
                <a:latin typeface="Arial" panose="020B0604020202020204" pitchFamily="34" charset="0"/>
              </a:rPr>
              <a:t>Moderate performance overall</a:t>
            </a:r>
            <a:endParaRPr lang="en-IN" sz="2000" b="0" dirty="0">
              <a:effectLst/>
            </a:endParaRPr>
          </a:p>
          <a:p>
            <a:pPr>
              <a:buNone/>
            </a:pPr>
            <a:br>
              <a:rPr lang="en-IN" sz="2000" b="0" dirty="0">
                <a:effectLst/>
              </a:rPr>
            </a:br>
            <a:endParaRPr lang="en-IN" sz="2000" b="0" dirty="0">
              <a:effectLst/>
            </a:endParaRPr>
          </a:p>
          <a:p>
            <a:pPr rtl="0">
              <a:buNone/>
            </a:pPr>
            <a:r>
              <a:rPr lang="en-IN" sz="2000" b="1" i="0" u="sng" dirty="0">
                <a:solidFill>
                  <a:srgbClr val="000000"/>
                </a:solidFill>
                <a:effectLst/>
                <a:latin typeface="Arial" panose="020B0604020202020204" pitchFamily="34" charset="0"/>
              </a:rPr>
              <a:t>Validation vs Test Consistency</a:t>
            </a:r>
            <a:endParaRPr lang="en-IN" sz="2000" b="1" i="0" u="sng" dirty="0">
              <a:solidFill>
                <a:srgbClr val="000000"/>
              </a:solidFill>
              <a:effectLst/>
              <a:latin typeface="Arial" panose="020B0604020202020204" pitchFamily="34" charset="0"/>
            </a:endParaRPr>
          </a:p>
          <a:p>
            <a:pPr marL="800100" lvl="1" indent="-342900">
              <a:buFont typeface="Arial" panose="020B0604020202020204" pitchFamily="34" charset="0"/>
              <a:buChar char="•"/>
            </a:pPr>
            <a:endParaRPr lang="en-IN" sz="2000" b="0" dirty="0">
              <a:effectLst/>
            </a:endParaRPr>
          </a:p>
          <a:p>
            <a:pPr marL="800100" lvl="1" indent="-342900">
              <a:buFont typeface="Arial" panose="020B0604020202020204" pitchFamily="34" charset="0"/>
              <a:buChar char="•"/>
            </a:pPr>
            <a:r>
              <a:rPr lang="en-IN" sz="2000" b="1" i="0" u="none" strike="noStrike" dirty="0">
                <a:solidFill>
                  <a:srgbClr val="000000"/>
                </a:solidFill>
                <a:effectLst/>
                <a:latin typeface="Arial" panose="020B0604020202020204" pitchFamily="34" charset="0"/>
              </a:rPr>
              <a:t>Most Consistent: </a:t>
            </a:r>
            <a:r>
              <a:rPr lang="en-IN" sz="2000" b="1" i="0" u="none" strike="noStrike" dirty="0" err="1">
                <a:solidFill>
                  <a:srgbClr val="000000"/>
                </a:solidFill>
                <a:effectLst/>
                <a:latin typeface="Arial" panose="020B0604020202020204" pitchFamily="34" charset="0"/>
              </a:rPr>
              <a:t>ConvNeXt</a:t>
            </a:r>
            <a:r>
              <a:rPr lang="en-IN" sz="2000" b="1" i="0" u="none" strike="noStrike" dirty="0">
                <a:solidFill>
                  <a:srgbClr val="000000"/>
                </a:solidFill>
                <a:effectLst/>
                <a:latin typeface="Arial" panose="020B0604020202020204" pitchFamily="34" charset="0"/>
              </a:rPr>
              <a:t> (67.1% </a:t>
            </a:r>
            <a:r>
              <a:rPr lang="en-IN" sz="2000" b="1" i="0" u="none" strike="noStrike" dirty="0" err="1">
                <a:solidFill>
                  <a:srgbClr val="000000"/>
                </a:solidFill>
                <a:effectLst/>
                <a:latin typeface="Arial" panose="020B0604020202020204" pitchFamily="34" charset="0"/>
              </a:rPr>
              <a:t>val</a:t>
            </a:r>
            <a:r>
              <a:rPr lang="en-IN" sz="2000" b="1" i="0" u="none" strike="noStrike" dirty="0">
                <a:solidFill>
                  <a:srgbClr val="000000"/>
                </a:solidFill>
                <a:effectLst/>
                <a:latin typeface="Arial" panose="020B0604020202020204" pitchFamily="34" charset="0"/>
              </a:rPr>
              <a:t> → 62.6% test)</a:t>
            </a:r>
            <a:endParaRPr lang="en-IN" sz="2000" b="0" dirty="0">
              <a:effectLst/>
            </a:endParaRPr>
          </a:p>
          <a:p>
            <a:pPr marL="800100" lvl="1" indent="-342900">
              <a:buFont typeface="Arial" panose="020B0604020202020204" pitchFamily="34" charset="0"/>
              <a:buChar char="•"/>
            </a:pPr>
            <a:r>
              <a:rPr lang="en-IN" sz="2000" b="1" i="0" u="none" strike="noStrike" dirty="0">
                <a:solidFill>
                  <a:srgbClr val="000000"/>
                </a:solidFill>
                <a:effectLst/>
                <a:latin typeface="Arial" panose="020B0604020202020204" pitchFamily="34" charset="0"/>
              </a:rPr>
              <a:t>Overfitting: ViT_b_16 (54.4% </a:t>
            </a:r>
            <a:r>
              <a:rPr lang="en-IN" sz="2000" b="1" i="0" u="none" strike="noStrike" dirty="0" err="1">
                <a:solidFill>
                  <a:srgbClr val="000000"/>
                </a:solidFill>
                <a:effectLst/>
                <a:latin typeface="Arial" panose="020B0604020202020204" pitchFamily="34" charset="0"/>
              </a:rPr>
              <a:t>val</a:t>
            </a:r>
            <a:r>
              <a:rPr lang="en-IN" sz="2000" b="1" i="0" u="none" strike="noStrike" dirty="0">
                <a:solidFill>
                  <a:srgbClr val="000000"/>
                </a:solidFill>
                <a:effectLst/>
                <a:latin typeface="Arial" panose="020B0604020202020204" pitchFamily="34" charset="0"/>
              </a:rPr>
              <a:t> → 62.2% test) - large gap</a:t>
            </a:r>
            <a:endParaRPr lang="en-IN" sz="2000" b="0" dirty="0">
              <a:effectLst/>
            </a:endParaRPr>
          </a:p>
          <a:p>
            <a:pPr marL="800100" lvl="1" indent="-342900">
              <a:buFont typeface="Arial" panose="020B0604020202020204" pitchFamily="34" charset="0"/>
              <a:buChar char="•"/>
            </a:pPr>
            <a:r>
              <a:rPr lang="en-IN" sz="2000" b="1" i="0" u="none" strike="noStrike" dirty="0">
                <a:solidFill>
                  <a:srgbClr val="000000"/>
                </a:solidFill>
                <a:effectLst/>
                <a:latin typeface="Arial" panose="020B0604020202020204" pitchFamily="34" charset="0"/>
              </a:rPr>
              <a:t>Best Generalization: </a:t>
            </a:r>
            <a:r>
              <a:rPr lang="en-IN" sz="2000" b="1" i="0" u="none" strike="noStrike" dirty="0" err="1">
                <a:solidFill>
                  <a:srgbClr val="000000"/>
                </a:solidFill>
                <a:effectLst/>
                <a:latin typeface="Arial" panose="020B0604020202020204" pitchFamily="34" charset="0"/>
              </a:rPr>
              <a:t>ConvNeXt</a:t>
            </a:r>
            <a:r>
              <a:rPr lang="en-IN" sz="2000" b="1" i="0" u="none" strike="noStrike" dirty="0">
                <a:solidFill>
                  <a:srgbClr val="000000"/>
                </a:solidFill>
                <a:effectLst/>
                <a:latin typeface="Arial" panose="020B0604020202020204" pitchFamily="34" charset="0"/>
              </a:rPr>
              <a:t> shows smallest </a:t>
            </a:r>
            <a:r>
              <a:rPr lang="en-IN" sz="2000" b="1" i="0" u="none" strike="noStrike" dirty="0" err="1">
                <a:solidFill>
                  <a:srgbClr val="000000"/>
                </a:solidFill>
                <a:effectLst/>
                <a:latin typeface="Arial" panose="020B0604020202020204" pitchFamily="34" charset="0"/>
              </a:rPr>
              <a:t>val</a:t>
            </a:r>
            <a:r>
              <a:rPr lang="en-IN" sz="2000" b="1" i="0" u="none" strike="noStrike" dirty="0">
                <a:solidFill>
                  <a:srgbClr val="000000"/>
                </a:solidFill>
                <a:effectLst/>
                <a:latin typeface="Arial" panose="020B0604020202020204" pitchFamily="34" charset="0"/>
              </a:rPr>
              <a:t>-test gap</a:t>
            </a:r>
            <a:endParaRPr lang="en-IN" sz="2000" b="0" dirty="0">
              <a:effectLst/>
            </a:endParaRPr>
          </a:p>
          <a:p>
            <a:pPr>
              <a:buNone/>
            </a:pPr>
            <a:br>
              <a:rPr lang="en-IN" sz="2000" dirty="0"/>
            </a:br>
            <a:endParaRPr lang="en-IN"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p:nvPr/>
        </p:nvSpPr>
        <p:spPr>
          <a:xfrm>
            <a:off x="391380" y="485164"/>
            <a:ext cx="2446638" cy="449318"/>
          </a:xfrm>
          <a:prstGeom prst="rect">
            <a:avLst/>
          </a:prstGeom>
          <a:ln>
            <a:solidFill>
              <a:schemeClr val="tx1"/>
            </a:solidFill>
          </a:ln>
        </p:spPr>
        <p:txBody>
          <a:bodyPr vert="horz" lIns="91440" tIns="45720" rIns="91440" bIns="45720" rtlCol="0" anchor="b">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800" b="1" dirty="0">
                <a:latin typeface="+mn-lt"/>
              </a:rPr>
              <a:t>Experiment -2</a:t>
            </a:r>
            <a:endParaRPr lang="en-IN" sz="2800" b="1" dirty="0">
              <a:latin typeface="+mn-lt"/>
            </a:endParaRPr>
          </a:p>
        </p:txBody>
      </p:sp>
      <p:sp>
        <p:nvSpPr>
          <p:cNvPr id="7" name="TextBox 6"/>
          <p:cNvSpPr txBox="1"/>
          <p:nvPr/>
        </p:nvSpPr>
        <p:spPr>
          <a:xfrm>
            <a:off x="-156512" y="1197620"/>
            <a:ext cx="6370320" cy="6709529"/>
          </a:xfrm>
          <a:prstGeom prst="rect">
            <a:avLst/>
          </a:prstGeom>
          <a:noFill/>
        </p:spPr>
        <p:txBody>
          <a:bodyPr wrap="square">
            <a:spAutoFit/>
          </a:bodyPr>
          <a:lstStyle/>
          <a:p>
            <a:pPr marL="742950" lvl="1" indent="-285750">
              <a:buFont typeface="Arial" panose="020B0604020202020204" pitchFamily="34" charset="0"/>
              <a:buChar char="•"/>
            </a:pPr>
            <a:r>
              <a:rPr lang="en-US" b="1" i="0" u="none" strike="noStrike" dirty="0">
                <a:solidFill>
                  <a:srgbClr val="000000"/>
                </a:solidFill>
                <a:effectLst/>
                <a:latin typeface="Arial" panose="020B0604020202020204" pitchFamily="34" charset="0"/>
              </a:rPr>
              <a:t>Input: </a:t>
            </a:r>
            <a:r>
              <a:rPr lang="en-US" b="1" dirty="0"/>
              <a:t>Oral cavity parts tight cropped from the Images and then resized to 224x224</a:t>
            </a:r>
            <a:endParaRPr lang="en-US" b="1" dirty="0"/>
          </a:p>
          <a:p>
            <a:pPr lvl="1"/>
            <a:endParaRPr lang="en-US" b="1" dirty="0"/>
          </a:p>
          <a:p>
            <a:pPr marL="628650" lvl="1" indent="-171450" fontAlgn="base">
              <a:buFont typeface="Arial" panose="020B0604020202020204" pitchFamily="34" charset="0"/>
              <a:buChar char="•"/>
            </a:pPr>
            <a:r>
              <a:rPr lang="en-IN" sz="2000" b="1" dirty="0">
                <a:solidFill>
                  <a:srgbClr val="000000"/>
                </a:solidFill>
              </a:rPr>
              <a:t>D</a:t>
            </a:r>
            <a:r>
              <a:rPr lang="en-IN" sz="2000" b="1" i="0" u="none" strike="noStrike" dirty="0">
                <a:solidFill>
                  <a:srgbClr val="000000"/>
                </a:solidFill>
                <a:effectLst/>
              </a:rPr>
              <a:t>ata transforms on the train set</a:t>
            </a:r>
            <a:endParaRPr lang="en-IN" sz="2000" b="1" i="0" u="none" strike="noStrike" dirty="0">
              <a:solidFill>
                <a:srgbClr val="000000"/>
              </a:solidFill>
              <a:effectLst/>
            </a:endParaRPr>
          </a:p>
          <a:p>
            <a:pPr marL="1200150" lvl="2" indent="-285750" fontAlgn="base">
              <a:buFont typeface="Arial" panose="020B0604020202020204" pitchFamily="34" charset="0"/>
              <a:buChar char="•"/>
            </a:pPr>
            <a:r>
              <a:rPr lang="en-IN" sz="2000" b="1" dirty="0" err="1">
                <a:solidFill>
                  <a:srgbClr val="000000"/>
                </a:solidFill>
              </a:rPr>
              <a:t>RandomHorizontalFlip</a:t>
            </a:r>
            <a:r>
              <a:rPr lang="en-IN" sz="2000" b="1" dirty="0">
                <a:solidFill>
                  <a:srgbClr val="000000"/>
                </a:solidFill>
              </a:rPr>
              <a:t>(p=0.5),</a:t>
            </a:r>
            <a:endParaRPr lang="en-IN" sz="2000" b="1" dirty="0">
              <a:solidFill>
                <a:srgbClr val="000000"/>
              </a:solidFill>
            </a:endParaRPr>
          </a:p>
          <a:p>
            <a:pPr marL="1200150" lvl="2" indent="-285750" fontAlgn="base">
              <a:buFont typeface="Arial" panose="020B0604020202020204" pitchFamily="34" charset="0"/>
              <a:buChar char="•"/>
            </a:pPr>
            <a:r>
              <a:rPr lang="en-IN" sz="2000" b="1" dirty="0" err="1">
                <a:solidFill>
                  <a:srgbClr val="000000"/>
                </a:solidFill>
              </a:rPr>
              <a:t>RandomRotation</a:t>
            </a:r>
            <a:r>
              <a:rPr lang="en-IN" sz="2000" b="1" dirty="0">
                <a:solidFill>
                  <a:srgbClr val="000000"/>
                </a:solidFill>
              </a:rPr>
              <a:t>(degrees=10),</a:t>
            </a:r>
            <a:endParaRPr lang="en-IN" sz="2000" b="1" dirty="0">
              <a:solidFill>
                <a:srgbClr val="000000"/>
              </a:solidFill>
            </a:endParaRPr>
          </a:p>
          <a:p>
            <a:pPr marL="1200150" lvl="2" indent="-285750" fontAlgn="base">
              <a:buFont typeface="Arial" panose="020B0604020202020204" pitchFamily="34" charset="0"/>
              <a:buChar char="•"/>
            </a:pPr>
            <a:r>
              <a:rPr lang="en-IN" sz="2000" b="1" dirty="0" err="1">
                <a:solidFill>
                  <a:srgbClr val="000000"/>
                </a:solidFill>
              </a:rPr>
              <a:t>ColorJitter</a:t>
            </a:r>
            <a:r>
              <a:rPr lang="en-IN" sz="2000" b="1" dirty="0">
                <a:solidFill>
                  <a:srgbClr val="000000"/>
                </a:solidFill>
              </a:rPr>
              <a:t>(brightness=0.1, contrast=0.1, saturation=0.1, hue=0.05),</a:t>
            </a:r>
            <a:endParaRPr lang="en-IN" sz="2000" b="1" dirty="0">
              <a:solidFill>
                <a:srgbClr val="000000"/>
              </a:solidFill>
            </a:endParaRPr>
          </a:p>
          <a:p>
            <a:pPr marL="1200150" lvl="2" indent="-285750" fontAlgn="base">
              <a:buFont typeface="Arial" panose="020B0604020202020204" pitchFamily="34" charset="0"/>
              <a:buChar char="•"/>
            </a:pPr>
            <a:r>
              <a:rPr lang="en-IN" sz="2000" b="1" dirty="0" err="1">
                <a:solidFill>
                  <a:srgbClr val="000000"/>
                </a:solidFill>
              </a:rPr>
              <a:t>ToTensor</a:t>
            </a:r>
            <a:r>
              <a:rPr lang="en-IN" sz="2000" b="1" dirty="0">
                <a:solidFill>
                  <a:srgbClr val="000000"/>
                </a:solidFill>
              </a:rPr>
              <a:t>(),</a:t>
            </a:r>
            <a:endParaRPr lang="en-IN" sz="2000" b="1" dirty="0">
              <a:solidFill>
                <a:srgbClr val="000000"/>
              </a:solidFill>
            </a:endParaRPr>
          </a:p>
          <a:p>
            <a:pPr marL="1200150" lvl="2" indent="-285750" fontAlgn="base">
              <a:buFont typeface="Arial" panose="020B0604020202020204" pitchFamily="34" charset="0"/>
              <a:buChar char="•"/>
            </a:pPr>
            <a:r>
              <a:rPr lang="en-IN" sz="2000" b="1" dirty="0">
                <a:solidFill>
                  <a:srgbClr val="000000"/>
                </a:solidFill>
              </a:rPr>
              <a:t>Normalize(</a:t>
            </a:r>
            <a:r>
              <a:rPr lang="en-US" b="1" dirty="0"/>
              <a:t>mean=[0.5091, 0.3415, 0.3140]</a:t>
            </a:r>
            <a:endParaRPr lang="en-US" b="1" dirty="0"/>
          </a:p>
          <a:p>
            <a:pPr fontAlgn="base"/>
            <a:r>
              <a:rPr lang="en-US" b="1" dirty="0"/>
              <a:t>			std=[0.3110, 0.2445, 0.2411] )</a:t>
            </a:r>
            <a:endParaRPr lang="en-US" b="1" dirty="0"/>
          </a:p>
          <a:p>
            <a:pPr fontAlgn="base"/>
            <a:endParaRPr lang="en-US" b="1" dirty="0"/>
          </a:p>
          <a:p>
            <a:pPr marL="742950" lvl="1" indent="-285750">
              <a:buFont typeface="Arial" panose="020B0604020202020204" pitchFamily="34" charset="0"/>
              <a:buChar char="•"/>
            </a:pPr>
            <a:r>
              <a:rPr lang="en-US" sz="2000" b="1" dirty="0"/>
              <a:t>Learning Rate = 1e-4 / 1e-5 </a:t>
            </a:r>
            <a:endParaRPr lang="en-US" sz="2000" b="1" dirty="0"/>
          </a:p>
          <a:p>
            <a:pPr marL="742950" lvl="1" indent="-285750">
              <a:lnSpc>
                <a:spcPct val="150000"/>
              </a:lnSpc>
              <a:buFont typeface="Arial" panose="020B0604020202020204" pitchFamily="34" charset="0"/>
              <a:buChar char="•"/>
            </a:pPr>
            <a:r>
              <a:rPr lang="en-IN" sz="2000" b="1" dirty="0"/>
              <a:t>Criterion   </a:t>
            </a:r>
            <a:r>
              <a:rPr lang="en-IN" sz="2000" b="1" dirty="0">
                <a:sym typeface="Wingdings" panose="05000000000000000000" pitchFamily="2" charset="2"/>
              </a:rPr>
              <a:t> Weighted Cross Entropy Loss</a:t>
            </a:r>
            <a:endParaRPr lang="en-IN" sz="2000" b="0" dirty="0">
              <a:effectLst/>
            </a:endParaRPr>
          </a:p>
          <a:p>
            <a:pPr marL="742950" lvl="1" indent="-285750">
              <a:lnSpc>
                <a:spcPct val="150000"/>
              </a:lnSpc>
              <a:buFont typeface="Arial" panose="020B0604020202020204" pitchFamily="34" charset="0"/>
              <a:buChar char="•"/>
            </a:pPr>
            <a:r>
              <a:rPr lang="en-IN" sz="2000" b="1" dirty="0"/>
              <a:t>Optimizer </a:t>
            </a:r>
            <a:r>
              <a:rPr lang="en-IN" sz="2000" b="1" dirty="0">
                <a:sym typeface="Wingdings" panose="05000000000000000000" pitchFamily="2" charset="2"/>
              </a:rPr>
              <a:t> </a:t>
            </a:r>
            <a:r>
              <a:rPr lang="en-IN" sz="2000" b="1" dirty="0" err="1">
                <a:sym typeface="Wingdings" panose="05000000000000000000" pitchFamily="2" charset="2"/>
              </a:rPr>
              <a:t>AdamW</a:t>
            </a:r>
            <a:r>
              <a:rPr lang="en-IN" sz="2000" b="1" dirty="0"/>
              <a:t> </a:t>
            </a:r>
            <a:endParaRPr lang="en-IN" sz="2000" b="1" dirty="0"/>
          </a:p>
          <a:p>
            <a:pPr marL="742950" lvl="1" indent="-285750">
              <a:lnSpc>
                <a:spcPct val="150000"/>
              </a:lnSpc>
              <a:buFont typeface="Arial" panose="020B0604020202020204" pitchFamily="34" charset="0"/>
              <a:buChar char="•"/>
            </a:pPr>
            <a:r>
              <a:rPr lang="en-IN" sz="2000" b="1" dirty="0"/>
              <a:t> Scheduler </a:t>
            </a:r>
            <a:r>
              <a:rPr lang="en-IN" sz="2000" b="1" dirty="0">
                <a:sym typeface="Wingdings" panose="05000000000000000000" pitchFamily="2" charset="2"/>
              </a:rPr>
              <a:t> </a:t>
            </a:r>
            <a:r>
              <a:rPr lang="en-IN" sz="2000" b="1" dirty="0" err="1"/>
              <a:t>CosineAnnealingLR</a:t>
            </a:r>
            <a:endParaRPr lang="en-IN" sz="2000" dirty="0"/>
          </a:p>
          <a:p>
            <a:pPr fontAlgn="base"/>
            <a:endParaRPr lang="en-US" b="1" dirty="0"/>
          </a:p>
          <a:p>
            <a:pPr lvl="1"/>
            <a:endParaRPr lang="en-IN" b="1" dirty="0"/>
          </a:p>
          <a:p>
            <a:pPr lvl="1"/>
            <a:endParaRPr lang="en-US" b="0" dirty="0">
              <a:effectLst/>
            </a:endParaRPr>
          </a:p>
          <a:p>
            <a:pPr lvl="1"/>
            <a:br>
              <a:rPr lang="en-US" dirty="0"/>
            </a:br>
            <a:endParaRPr lang="en-US" b="1" i="0" u="none" strike="noStrike" dirty="0">
              <a:solidFill>
                <a:srgbClr val="000000"/>
              </a:solidFill>
              <a:effectLst/>
              <a:latin typeface="Arial" panose="020B0604020202020204" pitchFamily="34" charset="0"/>
            </a:endParaRPr>
          </a:p>
        </p:txBody>
      </p:sp>
      <p:sp>
        <p:nvSpPr>
          <p:cNvPr id="11" name="TextBox 10"/>
          <p:cNvSpPr txBox="1"/>
          <p:nvPr/>
        </p:nvSpPr>
        <p:spPr>
          <a:xfrm>
            <a:off x="6963730" y="1420201"/>
            <a:ext cx="1458612" cy="1477328"/>
          </a:xfrm>
          <a:prstGeom prst="rect">
            <a:avLst/>
          </a:prstGeom>
          <a:noFill/>
        </p:spPr>
        <p:txBody>
          <a:bodyPr wrap="square">
            <a:spAutoFit/>
          </a:bodyPr>
          <a:lstStyle/>
          <a:p>
            <a:pPr rtl="0">
              <a:buNone/>
            </a:pPr>
            <a:r>
              <a:rPr lang="en-US" sz="1800" b="1" i="0" u="none" strike="noStrike" dirty="0">
                <a:solidFill>
                  <a:srgbClr val="000000"/>
                </a:solidFill>
                <a:effectLst/>
                <a:latin typeface="Calibri" panose="020F0502020204030204" charset="0"/>
              </a:rPr>
              <a:t>Raw Image just resized to 224x224</a:t>
            </a:r>
            <a:endParaRPr lang="en-US" b="0" dirty="0">
              <a:effectLst/>
            </a:endParaRPr>
          </a:p>
          <a:p>
            <a:pPr>
              <a:buNone/>
            </a:pPr>
            <a:br>
              <a:rPr lang="en-US" dirty="0"/>
            </a:br>
            <a:endParaRPr lang="en-IN" dirty="0"/>
          </a:p>
        </p:txBody>
      </p:sp>
      <p:sp>
        <p:nvSpPr>
          <p:cNvPr id="13" name="TextBox 12"/>
          <p:cNvSpPr txBox="1"/>
          <p:nvPr/>
        </p:nvSpPr>
        <p:spPr>
          <a:xfrm>
            <a:off x="9463464" y="1402079"/>
            <a:ext cx="2559660" cy="1477328"/>
          </a:xfrm>
          <a:prstGeom prst="rect">
            <a:avLst/>
          </a:prstGeom>
          <a:noFill/>
        </p:spPr>
        <p:txBody>
          <a:bodyPr wrap="square">
            <a:spAutoFit/>
          </a:bodyPr>
          <a:lstStyle/>
          <a:p>
            <a:pPr rtl="0">
              <a:buNone/>
            </a:pPr>
            <a:r>
              <a:rPr lang="en-US" sz="1800" b="1" i="0" u="none" strike="noStrike" dirty="0">
                <a:solidFill>
                  <a:srgbClr val="000000"/>
                </a:solidFill>
                <a:effectLst/>
                <a:latin typeface="Calibri" panose="020F0502020204030204" charset="0"/>
              </a:rPr>
              <a:t>Oral cavity cropped from the image and  then resized to 224x224</a:t>
            </a:r>
            <a:endParaRPr lang="en-US" b="0" dirty="0">
              <a:effectLst/>
            </a:endParaRPr>
          </a:p>
          <a:p>
            <a:pPr>
              <a:buNone/>
            </a:pPr>
            <a:br>
              <a:rPr lang="en-US" dirty="0"/>
            </a:br>
            <a:endParaRPr lang="en-IN" dirty="0"/>
          </a:p>
        </p:txBody>
      </p:sp>
      <p:pic>
        <p:nvPicPr>
          <p:cNvPr id="717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096000" y="2897529"/>
            <a:ext cx="2924432" cy="2727398"/>
          </a:xfrm>
          <a:prstGeom prst="rect">
            <a:avLst/>
          </a:prstGeom>
          <a:noFill/>
          <a:extLst>
            <a:ext uri="{909E8E84-426E-40DD-AFC4-6F175D3DCCD1}">
              <a14:hiddenFill xmlns:a14="http://schemas.microsoft.com/office/drawing/2010/main">
                <a:solidFill>
                  <a:srgbClr val="FFFFFF"/>
                </a:solidFill>
              </a14:hiddenFill>
            </a:ext>
          </a:extLst>
        </p:spPr>
      </p:pic>
      <p:pic>
        <p:nvPicPr>
          <p:cNvPr id="717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60356" y="2897529"/>
            <a:ext cx="2695684" cy="2727398"/>
          </a:xfrm>
          <a:prstGeom prst="rect">
            <a:avLst/>
          </a:prstGeom>
          <a:noFill/>
          <a:extLst>
            <a:ext uri="{909E8E84-426E-40DD-AFC4-6F175D3DCCD1}">
              <a14:hiddenFill xmlns:a14="http://schemas.microsoft.com/office/drawing/2010/main">
                <a:solidFill>
                  <a:srgbClr val="FFFFFF"/>
                </a:solidFill>
              </a14:hiddenFill>
            </a:ext>
          </a:extLst>
        </p:spPr>
      </p:pic>
      <p:sp>
        <p:nvSpPr>
          <p:cNvPr id="14" name="Arrow: Down 13"/>
          <p:cNvSpPr/>
          <p:nvPr/>
        </p:nvSpPr>
        <p:spPr>
          <a:xfrm>
            <a:off x="7535982" y="2286000"/>
            <a:ext cx="157054" cy="59340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Arrow: Down 14"/>
          <p:cNvSpPr/>
          <p:nvPr/>
        </p:nvSpPr>
        <p:spPr>
          <a:xfrm>
            <a:off x="10495817" y="2286000"/>
            <a:ext cx="205133" cy="59340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58346" y="1149177"/>
            <a:ext cx="11541211" cy="489327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4646140" y="5029200"/>
            <a:ext cx="679621" cy="370702"/>
          </a:xfrm>
          <a:prstGeom prst="rect">
            <a:avLst/>
          </a:prstGeom>
          <a:noFill/>
          <a:ln w="38100">
            <a:solidFill>
              <a:srgbClr val="00B050"/>
            </a:solidFill>
          </a:ln>
        </p:spPr>
        <p:txBody>
          <a:bodyPr wrap="square" rtlCol="0">
            <a:spAutoFit/>
          </a:bodyPr>
          <a:lstStyle/>
          <a:p>
            <a:endParaRPr lang="en-IN" dirty="0"/>
          </a:p>
        </p:txBody>
      </p:sp>
      <p:sp>
        <p:nvSpPr>
          <p:cNvPr id="4" name="TextBox 3"/>
          <p:cNvSpPr txBox="1"/>
          <p:nvPr/>
        </p:nvSpPr>
        <p:spPr>
          <a:xfrm>
            <a:off x="3525794" y="5041556"/>
            <a:ext cx="679621" cy="370702"/>
          </a:xfrm>
          <a:prstGeom prst="rect">
            <a:avLst/>
          </a:prstGeom>
          <a:noFill/>
          <a:ln w="38100">
            <a:solidFill>
              <a:srgbClr val="00B050"/>
            </a:solidFill>
          </a:ln>
        </p:spPr>
        <p:txBody>
          <a:bodyPr wrap="square" rtlCol="0">
            <a:spAutoFit/>
          </a:bodyPr>
          <a:lstStyle/>
          <a:p>
            <a:endParaRPr lang="en-IN" dirty="0"/>
          </a:p>
        </p:txBody>
      </p:sp>
      <p:sp>
        <p:nvSpPr>
          <p:cNvPr id="5" name="TextBox 4"/>
          <p:cNvSpPr txBox="1"/>
          <p:nvPr/>
        </p:nvSpPr>
        <p:spPr>
          <a:xfrm>
            <a:off x="10124302" y="5029200"/>
            <a:ext cx="679621" cy="370702"/>
          </a:xfrm>
          <a:prstGeom prst="rect">
            <a:avLst/>
          </a:prstGeom>
          <a:noFill/>
          <a:ln w="38100">
            <a:solidFill>
              <a:srgbClr val="00B050"/>
            </a:solidFill>
          </a:ln>
        </p:spPr>
        <p:txBody>
          <a:bodyPr wrap="square" rtlCol="0">
            <a:spAutoFit/>
          </a:bodyPr>
          <a:lstStyle/>
          <a:p>
            <a:endParaRPr lang="en-IN" dirty="0"/>
          </a:p>
        </p:txBody>
      </p:sp>
      <p:sp>
        <p:nvSpPr>
          <p:cNvPr id="6" name="TextBox 5"/>
          <p:cNvSpPr txBox="1"/>
          <p:nvPr/>
        </p:nvSpPr>
        <p:spPr>
          <a:xfrm>
            <a:off x="7014519" y="4184822"/>
            <a:ext cx="679621" cy="370702"/>
          </a:xfrm>
          <a:prstGeom prst="rect">
            <a:avLst/>
          </a:prstGeom>
          <a:noFill/>
          <a:ln w="38100">
            <a:solidFill>
              <a:srgbClr val="00B050"/>
            </a:solidFill>
          </a:ln>
        </p:spPr>
        <p:txBody>
          <a:bodyPr wrap="square" rtlCol="0">
            <a:spAutoFit/>
          </a:bodyPr>
          <a:lstStyle/>
          <a:p>
            <a:endParaRPr lang="en-IN" dirty="0"/>
          </a:p>
        </p:txBody>
      </p:sp>
      <p:sp>
        <p:nvSpPr>
          <p:cNvPr id="7" name="TextBox 6"/>
          <p:cNvSpPr txBox="1"/>
          <p:nvPr/>
        </p:nvSpPr>
        <p:spPr>
          <a:xfrm>
            <a:off x="7856837" y="5053913"/>
            <a:ext cx="679621" cy="370702"/>
          </a:xfrm>
          <a:prstGeom prst="rect">
            <a:avLst/>
          </a:prstGeom>
          <a:noFill/>
          <a:ln w="38100">
            <a:solidFill>
              <a:srgbClr val="00B050"/>
            </a:solidFill>
          </a:ln>
        </p:spPr>
        <p:txBody>
          <a:bodyPr wrap="square" rtlCol="0">
            <a:spAutoFit/>
          </a:bodyPr>
          <a:lstStyle/>
          <a:p>
            <a:endParaRPr lang="en-IN" dirty="0"/>
          </a:p>
        </p:txBody>
      </p:sp>
      <p:sp>
        <p:nvSpPr>
          <p:cNvPr id="8" name="TextBox 7"/>
          <p:cNvSpPr txBox="1"/>
          <p:nvPr/>
        </p:nvSpPr>
        <p:spPr>
          <a:xfrm>
            <a:off x="5972432" y="2957383"/>
            <a:ext cx="679621" cy="370702"/>
          </a:xfrm>
          <a:prstGeom prst="rect">
            <a:avLst/>
          </a:prstGeom>
          <a:noFill/>
          <a:ln w="38100">
            <a:solidFill>
              <a:srgbClr val="00B050"/>
            </a:solidFill>
          </a:ln>
        </p:spPr>
        <p:txBody>
          <a:bodyPr wrap="square" rtlCol="0">
            <a:spAutoFit/>
          </a:bodyPr>
          <a:lstStyle/>
          <a:p>
            <a:endParaRPr lang="en-IN" dirty="0"/>
          </a:p>
        </p:txBody>
      </p:sp>
      <p:sp>
        <p:nvSpPr>
          <p:cNvPr id="9" name="TextBox 8"/>
          <p:cNvSpPr txBox="1"/>
          <p:nvPr/>
        </p:nvSpPr>
        <p:spPr>
          <a:xfrm>
            <a:off x="8767117" y="5029200"/>
            <a:ext cx="679621" cy="370702"/>
          </a:xfrm>
          <a:prstGeom prst="rect">
            <a:avLst/>
          </a:prstGeom>
          <a:noFill/>
          <a:ln w="38100">
            <a:solidFill>
              <a:srgbClr val="00B050"/>
            </a:solidFill>
          </a:ln>
        </p:spPr>
        <p:txBody>
          <a:bodyPr wrap="square" rtlCol="0">
            <a:spAutoFit/>
          </a:bodyPr>
          <a:lstStyle/>
          <a:p>
            <a:endParaRPr lang="en-IN"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38912" y="305068"/>
            <a:ext cx="11510072" cy="6555641"/>
          </a:xfrm>
          <a:prstGeom prst="rect">
            <a:avLst/>
          </a:prstGeom>
          <a:noFill/>
        </p:spPr>
        <p:txBody>
          <a:bodyPr wrap="square">
            <a:spAutoFit/>
          </a:bodyPr>
          <a:lstStyle/>
          <a:p>
            <a:r>
              <a:rPr lang="en-IN" sz="2000" b="1" dirty="0"/>
              <a:t>1. </a:t>
            </a:r>
            <a:r>
              <a:rPr lang="en-IN" sz="2000" b="1" dirty="0" err="1"/>
              <a:t>ConvNeXt</a:t>
            </a:r>
            <a:r>
              <a:rPr lang="en-IN" sz="2000" b="1" dirty="0"/>
              <a:t> - </a:t>
            </a:r>
            <a:r>
              <a:rPr lang="en-IN" sz="2000" b="1" dirty="0" err="1"/>
              <a:t>lr</a:t>
            </a:r>
            <a:r>
              <a:rPr lang="en-IN" sz="2000" b="1" dirty="0"/>
              <a:t>=1e-4</a:t>
            </a:r>
            <a:endParaRPr lang="en-IN" sz="2000" b="0" dirty="0">
              <a:effectLst/>
            </a:endParaRPr>
          </a:p>
          <a:p>
            <a:pPr marL="742950" lvl="1" indent="-285750">
              <a:buFont typeface="Arial" panose="020B0604020202020204" pitchFamily="34" charset="0"/>
              <a:buChar char="•"/>
            </a:pPr>
            <a:r>
              <a:rPr lang="en-IN" sz="2000" b="1" dirty="0"/>
              <a:t>Test Accuracy: 69.8%</a:t>
            </a:r>
            <a:endParaRPr lang="en-IN" sz="2000" b="0" dirty="0">
              <a:effectLst/>
            </a:endParaRPr>
          </a:p>
          <a:p>
            <a:pPr marL="742950" lvl="1" indent="-285750">
              <a:buFont typeface="Arial" panose="020B0604020202020204" pitchFamily="34" charset="0"/>
              <a:buChar char="•"/>
            </a:pPr>
            <a:r>
              <a:rPr lang="en-IN" sz="2000" b="1" dirty="0"/>
              <a:t>Highest Validation Accuracy: 74.3%</a:t>
            </a:r>
            <a:endParaRPr lang="en-IN" sz="2000" b="0" dirty="0">
              <a:effectLst/>
            </a:endParaRPr>
          </a:p>
          <a:p>
            <a:pPr marL="742950" lvl="1" indent="-285750">
              <a:buFont typeface="Arial" panose="020B0604020202020204" pitchFamily="34" charset="0"/>
              <a:buChar char="•"/>
            </a:pPr>
            <a:r>
              <a:rPr lang="en-IN" sz="2000" b="1" dirty="0"/>
              <a:t>Best Overall Balance - strong performance across all metrics</a:t>
            </a:r>
            <a:endParaRPr lang="en-IN" sz="2000" b="0" dirty="0">
              <a:effectLst/>
            </a:endParaRPr>
          </a:p>
          <a:p>
            <a:pPr marL="742950" lvl="1" indent="-285750">
              <a:buFont typeface="Arial" panose="020B0604020202020204" pitchFamily="34" charset="0"/>
              <a:buChar char="•"/>
            </a:pPr>
            <a:r>
              <a:rPr lang="en-IN" sz="2000" b="1" dirty="0"/>
              <a:t>Good Healthy (F1: 0.74), OPMD (F1: 0.67) and OCA detection(F1: 0.62)</a:t>
            </a:r>
            <a:endParaRPr lang="en-IN" sz="2000" b="0" dirty="0">
              <a:effectLst/>
            </a:endParaRPr>
          </a:p>
          <a:p>
            <a:endParaRPr lang="en-IN" sz="2000" b="0" dirty="0">
              <a:effectLst/>
            </a:endParaRPr>
          </a:p>
          <a:p>
            <a:r>
              <a:rPr lang="en-IN" sz="2000" b="1" dirty="0"/>
              <a:t>2. ViT_b_16 - </a:t>
            </a:r>
            <a:r>
              <a:rPr lang="en-IN" sz="2000" b="1" dirty="0" err="1"/>
              <a:t>lr</a:t>
            </a:r>
            <a:r>
              <a:rPr lang="en-IN" sz="2000" b="1" dirty="0"/>
              <a:t>=1e-4</a:t>
            </a:r>
            <a:endParaRPr lang="en-IN" sz="2000" b="0" dirty="0">
              <a:effectLst/>
            </a:endParaRPr>
          </a:p>
          <a:p>
            <a:pPr marL="742950" lvl="1" indent="-285750">
              <a:buFont typeface="Arial" panose="020B0604020202020204" pitchFamily="34" charset="0"/>
              <a:buChar char="•"/>
            </a:pPr>
            <a:r>
              <a:rPr lang="en-IN" sz="2000" b="1" dirty="0"/>
              <a:t>Test Accuracy: 68.0%</a:t>
            </a:r>
            <a:endParaRPr lang="en-IN" sz="2000" b="1" dirty="0"/>
          </a:p>
          <a:p>
            <a:pPr marL="742950" lvl="1" indent="-285750">
              <a:buFont typeface="Arial" panose="020B0604020202020204" pitchFamily="34" charset="0"/>
              <a:buChar char="•"/>
            </a:pPr>
            <a:r>
              <a:rPr lang="en-IN" sz="2000" b="1" dirty="0"/>
              <a:t>Validation Accuracy: 67.9% </a:t>
            </a:r>
            <a:endParaRPr lang="en-IN" sz="2000" b="0" dirty="0">
              <a:effectLst/>
            </a:endParaRPr>
          </a:p>
          <a:p>
            <a:pPr marL="742950" lvl="1" indent="-285750">
              <a:buFont typeface="Arial" panose="020B0604020202020204" pitchFamily="34" charset="0"/>
              <a:buChar char="•"/>
            </a:pPr>
            <a:r>
              <a:rPr lang="en-IN" sz="2000" b="1" dirty="0"/>
              <a:t>Good OCA detection (F1: 0.62)</a:t>
            </a:r>
            <a:endParaRPr lang="en-IN" sz="2000" b="0" dirty="0">
              <a:effectLst/>
            </a:endParaRPr>
          </a:p>
          <a:p>
            <a:pPr marL="742950" lvl="1" indent="-285750">
              <a:buFont typeface="Arial" panose="020B0604020202020204" pitchFamily="34" charset="0"/>
              <a:buChar char="•"/>
            </a:pPr>
            <a:r>
              <a:rPr lang="en-IN" sz="2000" b="1" dirty="0"/>
              <a:t>Best</a:t>
            </a:r>
            <a:r>
              <a:rPr lang="en-IN" sz="2000" b="1" dirty="0">
                <a:effectLst/>
              </a:rPr>
              <a:t> generalization</a:t>
            </a:r>
            <a:br>
              <a:rPr lang="en-IN" sz="2000" b="0" dirty="0">
                <a:effectLst/>
              </a:rPr>
            </a:br>
            <a:endParaRPr lang="en-IN" sz="2000" b="0" dirty="0">
              <a:effectLst/>
            </a:endParaRPr>
          </a:p>
          <a:p>
            <a:r>
              <a:rPr lang="en-IN" sz="2000" b="1" dirty="0"/>
              <a:t>3. DenseNet121 - </a:t>
            </a:r>
            <a:r>
              <a:rPr lang="en-IN" sz="2000" b="1" dirty="0" err="1"/>
              <a:t>lr</a:t>
            </a:r>
            <a:r>
              <a:rPr lang="en-IN" sz="2000" b="1" dirty="0"/>
              <a:t>=1e-4</a:t>
            </a:r>
            <a:endParaRPr lang="en-IN" sz="2000" b="0" dirty="0">
              <a:effectLst/>
            </a:endParaRPr>
          </a:p>
          <a:p>
            <a:pPr marL="742950" lvl="1" indent="-285750">
              <a:buFont typeface="Arial" panose="020B0604020202020204" pitchFamily="34" charset="0"/>
              <a:buChar char="•"/>
            </a:pPr>
            <a:r>
              <a:rPr lang="en-IN" sz="2000" b="1" dirty="0"/>
              <a:t>Test Accuracy: 68.0%</a:t>
            </a:r>
            <a:endParaRPr lang="en-IN" sz="2000" b="1" dirty="0"/>
          </a:p>
          <a:p>
            <a:pPr marL="742950" lvl="1" indent="-285750">
              <a:buFont typeface="Arial" panose="020B0604020202020204" pitchFamily="34" charset="0"/>
              <a:buChar char="•"/>
            </a:pPr>
            <a:r>
              <a:rPr lang="en-IN" sz="2000" b="1" dirty="0"/>
              <a:t>Validation Accuracy: 66.2%</a:t>
            </a:r>
            <a:endParaRPr lang="en-IN" sz="2000" b="0" dirty="0">
              <a:effectLst/>
            </a:endParaRPr>
          </a:p>
          <a:p>
            <a:pPr marL="742950" lvl="1" indent="-285750">
              <a:buFont typeface="Arial" panose="020B0604020202020204" pitchFamily="34" charset="0"/>
              <a:buChar char="•"/>
            </a:pPr>
            <a:r>
              <a:rPr lang="en-IN" sz="2000" b="1" dirty="0"/>
              <a:t>Best Healthy detection (F1: 0.77)</a:t>
            </a:r>
            <a:endParaRPr lang="en-IN" sz="2000" b="0" dirty="0">
              <a:effectLst/>
            </a:endParaRPr>
          </a:p>
          <a:p>
            <a:endParaRPr lang="en-IN" sz="2000" b="0" dirty="0">
              <a:effectLst/>
            </a:endParaRPr>
          </a:p>
          <a:p>
            <a:r>
              <a:rPr lang="en-IN" sz="2000" b="1" dirty="0"/>
              <a:t>4. ResNet18 - </a:t>
            </a:r>
            <a:r>
              <a:rPr lang="en-IN" sz="2000" b="1" dirty="0" err="1"/>
              <a:t>lr</a:t>
            </a:r>
            <a:r>
              <a:rPr lang="en-IN" sz="2000" b="1" dirty="0"/>
              <a:t>=1e-4</a:t>
            </a:r>
            <a:endParaRPr lang="en-IN" sz="2000" b="0" dirty="0">
              <a:effectLst/>
            </a:endParaRPr>
          </a:p>
          <a:p>
            <a:pPr marL="742950" lvl="1" indent="-285750">
              <a:buFont typeface="Arial" panose="020B0604020202020204" pitchFamily="34" charset="0"/>
              <a:buChar char="•"/>
            </a:pPr>
            <a:r>
              <a:rPr lang="en-IN" sz="2000" b="1" dirty="0"/>
              <a:t>Test Accuracy: 66.7%</a:t>
            </a:r>
            <a:endParaRPr lang="en-IN" sz="2000" b="1" dirty="0"/>
          </a:p>
          <a:p>
            <a:pPr marL="742950" lvl="1" indent="-285750">
              <a:buFont typeface="Arial" panose="020B0604020202020204" pitchFamily="34" charset="0"/>
              <a:buChar char="•"/>
            </a:pPr>
            <a:r>
              <a:rPr lang="en-IN" sz="2000" b="1" dirty="0"/>
              <a:t> Validation Accuracy: 68.4%</a:t>
            </a:r>
            <a:endParaRPr lang="en-IN" sz="2000" b="0" dirty="0">
              <a:effectLst/>
            </a:endParaRPr>
          </a:p>
          <a:p>
            <a:pPr>
              <a:buNone/>
            </a:pPr>
            <a:endParaRPr lang="en-IN" sz="2000" b="0" dirty="0">
              <a:effectLst/>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58347" y="184989"/>
            <a:ext cx="10367318" cy="6247864"/>
          </a:xfrm>
          <a:prstGeom prst="rect">
            <a:avLst/>
          </a:prstGeom>
          <a:noFill/>
        </p:spPr>
        <p:txBody>
          <a:bodyPr wrap="square">
            <a:spAutoFit/>
          </a:bodyPr>
          <a:lstStyle/>
          <a:p>
            <a:r>
              <a:rPr lang="en-IN" sz="2000" b="1" u="sng" dirty="0"/>
              <a:t>Learning Rate Optimization</a:t>
            </a:r>
            <a:endParaRPr lang="en-IN" sz="2000" b="0" dirty="0">
              <a:effectLst/>
            </a:endParaRPr>
          </a:p>
          <a:p>
            <a:endParaRPr lang="en-IN" sz="2000" b="0" dirty="0">
              <a:effectLst/>
            </a:endParaRPr>
          </a:p>
          <a:p>
            <a:pPr marL="800100" lvl="1" indent="-342900">
              <a:buFont typeface="Arial" panose="020B0604020202020204" pitchFamily="34" charset="0"/>
              <a:buChar char="•"/>
            </a:pPr>
            <a:r>
              <a:rPr lang="en-IN" sz="2000" b="1" dirty="0"/>
              <a:t>Optimal LR: 1e-4 consistently performs best</a:t>
            </a:r>
            <a:endParaRPr lang="en-IN" sz="2000" b="0" dirty="0">
              <a:effectLst/>
            </a:endParaRPr>
          </a:p>
          <a:p>
            <a:pPr marL="800100" lvl="1" indent="-342900">
              <a:buFont typeface="Arial" panose="020B0604020202020204" pitchFamily="34" charset="0"/>
              <a:buChar char="•"/>
            </a:pPr>
            <a:r>
              <a:rPr lang="en-IN" sz="2000" b="1" dirty="0"/>
              <a:t>ViT_b_16 : 1e-4 (68.0%) &gt; 1e-5 (67.1%)  Test Accuracy</a:t>
            </a:r>
            <a:endParaRPr lang="en-IN" sz="2000" b="0" dirty="0">
              <a:effectLst/>
            </a:endParaRPr>
          </a:p>
          <a:p>
            <a:pPr marL="800100" lvl="1" indent="-342900">
              <a:buFont typeface="Arial" panose="020B0604020202020204" pitchFamily="34" charset="0"/>
              <a:buChar char="•"/>
            </a:pPr>
            <a:r>
              <a:rPr lang="en-IN" sz="2000" b="1" dirty="0" err="1"/>
              <a:t>ConvNeXt</a:t>
            </a:r>
            <a:r>
              <a:rPr lang="en-IN" sz="2000" b="1" dirty="0"/>
              <a:t>: 1e-4 (69.8%) &gt; 1e-5 (59.0%)</a:t>
            </a:r>
            <a:endParaRPr lang="en-IN" sz="2000" b="0" dirty="0">
              <a:effectLst/>
            </a:endParaRPr>
          </a:p>
          <a:p>
            <a:pPr marL="800100" lvl="1" indent="-342900">
              <a:buFont typeface="Arial" panose="020B0604020202020204" pitchFamily="34" charset="0"/>
              <a:buChar char="•"/>
            </a:pPr>
            <a:r>
              <a:rPr lang="en-IN" sz="2000" b="1" dirty="0"/>
              <a:t>ResNet50: 1e-4 (65.3%) &gt; 1e-5 (58.1%)</a:t>
            </a:r>
            <a:endParaRPr lang="en-IN" sz="2000" b="0" dirty="0">
              <a:effectLst/>
            </a:endParaRPr>
          </a:p>
          <a:p>
            <a:br>
              <a:rPr lang="en-IN" sz="2000" b="0" dirty="0">
                <a:effectLst/>
              </a:rPr>
            </a:br>
            <a:endParaRPr lang="en-IN" sz="2000" b="0" dirty="0">
              <a:effectLst/>
            </a:endParaRPr>
          </a:p>
          <a:p>
            <a:r>
              <a:rPr lang="en-IN" sz="2000" b="1" u="sng" dirty="0"/>
              <a:t>Class-Wise Performance</a:t>
            </a:r>
            <a:br>
              <a:rPr lang="en-IN" sz="2000" b="0" dirty="0">
                <a:effectLst/>
              </a:rPr>
            </a:br>
            <a:endParaRPr lang="en-IN" sz="2000" b="0" dirty="0">
              <a:effectLst/>
            </a:endParaRPr>
          </a:p>
          <a:p>
            <a:pPr marL="800100" lvl="1" indent="-342900">
              <a:buFont typeface="Arial" panose="020B0604020202020204" pitchFamily="34" charset="0"/>
              <a:buChar char="•"/>
            </a:pPr>
            <a:r>
              <a:rPr lang="en-IN" sz="2000" b="1" dirty="0"/>
              <a:t>Healthy Class:</a:t>
            </a:r>
            <a:endParaRPr lang="en-IN" sz="2000" b="0" dirty="0">
              <a:effectLst/>
            </a:endParaRPr>
          </a:p>
          <a:p>
            <a:pPr marL="1257300" lvl="2" indent="-342900">
              <a:buFont typeface="Arial" panose="020B0604020202020204" pitchFamily="34" charset="0"/>
              <a:buChar char="•"/>
            </a:pPr>
            <a:r>
              <a:rPr lang="en-IN" sz="2000" b="1" dirty="0"/>
              <a:t>Best: DenseNet121-1e-4 (F1: 0.77)</a:t>
            </a:r>
            <a:endParaRPr lang="en-IN" sz="2000" b="0" dirty="0">
              <a:effectLst/>
            </a:endParaRPr>
          </a:p>
          <a:p>
            <a:pPr marL="1257300" lvl="2" indent="-342900">
              <a:buFont typeface="Arial" panose="020B0604020202020204" pitchFamily="34" charset="0"/>
              <a:buChar char="•"/>
            </a:pPr>
            <a:endParaRPr lang="en-IN" sz="2000" b="0" dirty="0">
              <a:effectLst/>
            </a:endParaRPr>
          </a:p>
          <a:p>
            <a:pPr marL="800100" lvl="1" indent="-342900">
              <a:buFont typeface="Arial" panose="020B0604020202020204" pitchFamily="34" charset="0"/>
              <a:buChar char="•"/>
            </a:pPr>
            <a:r>
              <a:rPr lang="en-IN" sz="2000" b="1" dirty="0"/>
              <a:t>OCA (Minority Class):</a:t>
            </a:r>
            <a:endParaRPr lang="en-IN" sz="2000" b="0" dirty="0">
              <a:effectLst/>
            </a:endParaRPr>
          </a:p>
          <a:p>
            <a:pPr marL="1257300" lvl="2" indent="-342900">
              <a:buFont typeface="Arial" panose="020B0604020202020204" pitchFamily="34" charset="0"/>
              <a:buChar char="•"/>
            </a:pPr>
            <a:r>
              <a:rPr lang="en-IN" sz="2000" b="1" dirty="0"/>
              <a:t>Best: ViT_b_16-1e-4 (F1: 0.62) &amp; ConvNeXt-1e-4 (F1: 0.62)</a:t>
            </a:r>
            <a:br>
              <a:rPr lang="en-IN" sz="2000" b="0" dirty="0">
                <a:effectLst/>
              </a:rPr>
            </a:br>
            <a:endParaRPr lang="en-IN" sz="2000" b="0" dirty="0">
              <a:effectLst/>
            </a:endParaRPr>
          </a:p>
          <a:p>
            <a:pPr marL="800100" lvl="1" indent="-342900">
              <a:buFont typeface="Arial" panose="020B0604020202020204" pitchFamily="34" charset="0"/>
              <a:buChar char="•"/>
            </a:pPr>
            <a:r>
              <a:rPr lang="en-IN" sz="2000" b="1" dirty="0"/>
              <a:t>OPMD Class:</a:t>
            </a:r>
            <a:endParaRPr lang="en-IN" sz="2000" b="0" dirty="0">
              <a:effectLst/>
            </a:endParaRPr>
          </a:p>
          <a:p>
            <a:pPr marL="1257300" lvl="2" indent="-342900">
              <a:buFont typeface="Arial" panose="020B0604020202020204" pitchFamily="34" charset="0"/>
              <a:buChar char="•"/>
            </a:pPr>
            <a:r>
              <a:rPr lang="en-IN" sz="2000" b="1" dirty="0"/>
              <a:t>Best: ConvNeXt-1e-4 (F1: 0.67)</a:t>
            </a:r>
            <a:endParaRPr lang="en-IN" sz="2000" b="0" dirty="0">
              <a:effectLst/>
            </a:endParaRPr>
          </a:p>
          <a:p>
            <a:br>
              <a:rPr lang="en-IN" sz="2000" dirty="0"/>
            </a:br>
            <a:endParaRPr lang="en-IN"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p:nvPr/>
        </p:nvSpPr>
        <p:spPr>
          <a:xfrm>
            <a:off x="391379" y="1112531"/>
            <a:ext cx="2446638" cy="449318"/>
          </a:xfrm>
          <a:prstGeom prst="rect">
            <a:avLst/>
          </a:prstGeom>
          <a:ln>
            <a:solidFill>
              <a:schemeClr val="tx1"/>
            </a:solidFill>
          </a:ln>
        </p:spPr>
        <p:txBody>
          <a:bodyPr vert="horz" lIns="91440" tIns="45720" rIns="91440" bIns="45720" rtlCol="0" anchor="b">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800" b="1" dirty="0">
                <a:latin typeface="+mn-lt"/>
              </a:rPr>
              <a:t>Experiment - 3</a:t>
            </a:r>
            <a:endParaRPr lang="en-IN" sz="2800" b="1" dirty="0">
              <a:latin typeface="+mn-lt"/>
            </a:endParaRPr>
          </a:p>
        </p:txBody>
      </p:sp>
      <p:sp>
        <p:nvSpPr>
          <p:cNvPr id="7" name="TextBox 6"/>
          <p:cNvSpPr txBox="1"/>
          <p:nvPr/>
        </p:nvSpPr>
        <p:spPr>
          <a:xfrm>
            <a:off x="-145924" y="1859280"/>
            <a:ext cx="12033124" cy="5632311"/>
          </a:xfrm>
          <a:prstGeom prst="rect">
            <a:avLst/>
          </a:prstGeom>
          <a:noFill/>
        </p:spPr>
        <p:txBody>
          <a:bodyPr wrap="square">
            <a:spAutoFit/>
          </a:bodyPr>
          <a:lstStyle/>
          <a:p>
            <a:pPr marL="742950" lvl="1" indent="-285750">
              <a:buFont typeface="Arial" panose="020B0604020202020204" pitchFamily="34" charset="0"/>
              <a:buChar char="•"/>
            </a:pPr>
            <a:r>
              <a:rPr lang="en-IN" sz="2000" b="1" dirty="0"/>
              <a:t>Dataset: </a:t>
            </a:r>
            <a:endParaRPr lang="en-IN" sz="2000" b="1" dirty="0"/>
          </a:p>
          <a:p>
            <a:pPr marL="1200150" lvl="2" indent="-285750">
              <a:buFont typeface="Arial" panose="020B0604020202020204" pitchFamily="34" charset="0"/>
              <a:buChar char="•"/>
            </a:pPr>
            <a:r>
              <a:rPr lang="en-IN" sz="2000" b="1" dirty="0" err="1"/>
              <a:t>Piyarathne</a:t>
            </a:r>
            <a:r>
              <a:rPr lang="en-IN" sz="2000" b="1" dirty="0"/>
              <a:t> et al_2024_Zenodo OPMD &amp; OC dataset(3000 Images) + extra OPMD images(874 Images)</a:t>
            </a:r>
            <a:endParaRPr lang="en-IN" sz="2000" b="1" dirty="0"/>
          </a:p>
          <a:p>
            <a:pPr lvl="1"/>
            <a:endParaRPr lang="en-US" sz="2000" b="1" dirty="0">
              <a:solidFill>
                <a:srgbClr val="000000"/>
              </a:solidFill>
              <a:latin typeface="Arial" panose="020B0604020202020204" pitchFamily="34" charset="0"/>
            </a:endParaRPr>
          </a:p>
          <a:p>
            <a:pPr marL="742950" lvl="1" indent="-285750">
              <a:buFont typeface="Arial" panose="020B0604020202020204" pitchFamily="34" charset="0"/>
              <a:buChar char="•"/>
            </a:pPr>
            <a:r>
              <a:rPr lang="en-US" sz="2000" b="1" i="0" u="none" strike="noStrike" dirty="0">
                <a:solidFill>
                  <a:srgbClr val="000000"/>
                </a:solidFill>
                <a:effectLst/>
                <a:latin typeface="Arial" panose="020B0604020202020204" pitchFamily="34" charset="0"/>
              </a:rPr>
              <a:t>Input: </a:t>
            </a:r>
            <a:r>
              <a:rPr lang="en-US" sz="2000" b="1" dirty="0"/>
              <a:t>Oral cavity parts tight cropped from the Images and then resized to 224x224 </a:t>
            </a:r>
            <a:endParaRPr lang="en-US" sz="2000" b="1" dirty="0"/>
          </a:p>
          <a:p>
            <a:pPr lvl="1"/>
            <a:endParaRPr lang="en-US" sz="2000" b="1" dirty="0"/>
          </a:p>
          <a:p>
            <a:pPr marL="742950" lvl="1" indent="-285750">
              <a:buFont typeface="Arial" panose="020B0604020202020204" pitchFamily="34" charset="0"/>
              <a:buChar char="•"/>
            </a:pPr>
            <a:r>
              <a:rPr lang="en-US" sz="2000" b="1" dirty="0"/>
              <a:t>Data Statistics (Mean, Standard Deviation)  is used </a:t>
            </a:r>
            <a:endParaRPr lang="en-US" sz="2000" b="1" dirty="0"/>
          </a:p>
          <a:p>
            <a:pPr lvl="1"/>
            <a:endParaRPr lang="en-US" sz="2000" b="1" dirty="0"/>
          </a:p>
          <a:p>
            <a:pPr marL="628650" lvl="1" indent="-171450" fontAlgn="base">
              <a:buFont typeface="Arial" panose="020B0604020202020204" pitchFamily="34" charset="0"/>
              <a:buChar char="•"/>
            </a:pPr>
            <a:r>
              <a:rPr lang="en-IN" sz="2000" b="1" dirty="0">
                <a:solidFill>
                  <a:srgbClr val="000000"/>
                </a:solidFill>
              </a:rPr>
              <a:t>  D</a:t>
            </a:r>
            <a:r>
              <a:rPr lang="en-IN" sz="2000" b="1" i="0" u="none" strike="noStrike" dirty="0">
                <a:solidFill>
                  <a:srgbClr val="000000"/>
                </a:solidFill>
                <a:effectLst/>
              </a:rPr>
              <a:t>ata transforms on the train set</a:t>
            </a:r>
            <a:endParaRPr lang="en-IN" sz="2000" b="1" i="0" u="none" strike="noStrike" dirty="0">
              <a:solidFill>
                <a:srgbClr val="000000"/>
              </a:solidFill>
              <a:effectLst/>
            </a:endParaRPr>
          </a:p>
          <a:p>
            <a:pPr marL="1200150" lvl="2" indent="-285750" fontAlgn="base">
              <a:buFont typeface="Arial" panose="020B0604020202020204" pitchFamily="34" charset="0"/>
              <a:buChar char="•"/>
            </a:pPr>
            <a:r>
              <a:rPr lang="en-IN" sz="2000" b="1" dirty="0" err="1">
                <a:solidFill>
                  <a:srgbClr val="000000"/>
                </a:solidFill>
              </a:rPr>
              <a:t>RandomHorizontalFlip</a:t>
            </a:r>
            <a:r>
              <a:rPr lang="en-IN" sz="2000" b="1" dirty="0">
                <a:solidFill>
                  <a:srgbClr val="000000"/>
                </a:solidFill>
              </a:rPr>
              <a:t>(p=0.5),</a:t>
            </a:r>
            <a:endParaRPr lang="en-IN" sz="2000" b="1" dirty="0">
              <a:solidFill>
                <a:srgbClr val="000000"/>
              </a:solidFill>
            </a:endParaRPr>
          </a:p>
          <a:p>
            <a:pPr marL="1200150" lvl="2" indent="-285750" fontAlgn="base">
              <a:buFont typeface="Arial" panose="020B0604020202020204" pitchFamily="34" charset="0"/>
              <a:buChar char="•"/>
            </a:pPr>
            <a:r>
              <a:rPr lang="en-IN" sz="2000" b="1" dirty="0" err="1">
                <a:solidFill>
                  <a:srgbClr val="000000"/>
                </a:solidFill>
              </a:rPr>
              <a:t>RandomRotation</a:t>
            </a:r>
            <a:r>
              <a:rPr lang="en-IN" sz="2000" b="1" dirty="0">
                <a:solidFill>
                  <a:srgbClr val="000000"/>
                </a:solidFill>
              </a:rPr>
              <a:t>(degrees=10),</a:t>
            </a:r>
            <a:endParaRPr lang="en-IN" sz="2000" b="1" dirty="0">
              <a:solidFill>
                <a:srgbClr val="000000"/>
              </a:solidFill>
            </a:endParaRPr>
          </a:p>
          <a:p>
            <a:pPr marL="1200150" lvl="2" indent="-285750" fontAlgn="base">
              <a:buFont typeface="Arial" panose="020B0604020202020204" pitchFamily="34" charset="0"/>
              <a:buChar char="•"/>
            </a:pPr>
            <a:r>
              <a:rPr lang="en-IN" sz="2000" b="1" dirty="0" err="1">
                <a:solidFill>
                  <a:srgbClr val="000000"/>
                </a:solidFill>
              </a:rPr>
              <a:t>ToTensor</a:t>
            </a:r>
            <a:r>
              <a:rPr lang="en-IN" sz="2000" b="1" dirty="0">
                <a:solidFill>
                  <a:srgbClr val="000000"/>
                </a:solidFill>
              </a:rPr>
              <a:t>(),</a:t>
            </a:r>
            <a:endParaRPr lang="en-IN" sz="2000" b="1" dirty="0">
              <a:solidFill>
                <a:srgbClr val="000000"/>
              </a:solidFill>
            </a:endParaRPr>
          </a:p>
          <a:p>
            <a:pPr marL="1200150" lvl="2" indent="-285750" fontAlgn="base">
              <a:buFont typeface="Arial" panose="020B0604020202020204" pitchFamily="34" charset="0"/>
              <a:buChar char="•"/>
            </a:pPr>
            <a:r>
              <a:rPr lang="en-IN" sz="2000" b="1" dirty="0">
                <a:solidFill>
                  <a:srgbClr val="000000"/>
                </a:solidFill>
              </a:rPr>
              <a:t>Normalize(</a:t>
            </a:r>
            <a:r>
              <a:rPr lang="en-US" sz="2000" b="1" dirty="0"/>
              <a:t>mean=[0.6246, 0.4630, 0.4216],</a:t>
            </a:r>
            <a:endParaRPr lang="en-US" sz="2000" b="1" dirty="0"/>
          </a:p>
          <a:p>
            <a:r>
              <a:rPr lang="en-US" sz="2000" b="1" dirty="0"/>
              <a:t>                                             std=[0.2522, 0.2333, 0.2270])</a:t>
            </a:r>
            <a:endParaRPr lang="en-US" sz="2000" b="0" dirty="0">
              <a:effectLst/>
            </a:endParaRPr>
          </a:p>
          <a:p>
            <a:br>
              <a:rPr lang="en-US" sz="2000" dirty="0"/>
            </a:br>
            <a:endParaRPr lang="en-IN" sz="2000" b="1" dirty="0"/>
          </a:p>
          <a:p>
            <a:pPr lvl="1"/>
            <a:endParaRPr lang="en-US" sz="2000" b="0" dirty="0">
              <a:effectLst/>
            </a:endParaRPr>
          </a:p>
          <a:p>
            <a:pPr lvl="1"/>
            <a:br>
              <a:rPr lang="en-US" sz="2000" dirty="0"/>
            </a:br>
            <a:endParaRPr lang="en-US" sz="2000" b="1" i="0" u="none" strike="noStrike" dirty="0">
              <a:solidFill>
                <a:srgbClr val="000000"/>
              </a:solidFill>
              <a:effectLst/>
              <a:latin typeface="Arial" panose="020B060402020202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45163" y="1198605"/>
            <a:ext cx="11292609" cy="4423719"/>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3389870" y="4683210"/>
            <a:ext cx="679621" cy="370702"/>
          </a:xfrm>
          <a:prstGeom prst="rect">
            <a:avLst/>
          </a:prstGeom>
          <a:noFill/>
          <a:ln w="38100">
            <a:solidFill>
              <a:srgbClr val="00B050"/>
            </a:solidFill>
          </a:ln>
        </p:spPr>
        <p:txBody>
          <a:bodyPr wrap="square" rtlCol="0">
            <a:spAutoFit/>
          </a:bodyPr>
          <a:lstStyle/>
          <a:p>
            <a:endParaRPr lang="en-IN" dirty="0"/>
          </a:p>
        </p:txBody>
      </p:sp>
      <p:sp>
        <p:nvSpPr>
          <p:cNvPr id="3" name="TextBox 2"/>
          <p:cNvSpPr txBox="1"/>
          <p:nvPr/>
        </p:nvSpPr>
        <p:spPr>
          <a:xfrm>
            <a:off x="4539048" y="1890583"/>
            <a:ext cx="679621" cy="370702"/>
          </a:xfrm>
          <a:prstGeom prst="rect">
            <a:avLst/>
          </a:prstGeom>
          <a:noFill/>
          <a:ln w="38100">
            <a:solidFill>
              <a:srgbClr val="00B050"/>
            </a:solidFill>
          </a:ln>
        </p:spPr>
        <p:txBody>
          <a:bodyPr wrap="square" rtlCol="0">
            <a:spAutoFit/>
          </a:bodyPr>
          <a:lstStyle/>
          <a:p>
            <a:endParaRPr lang="en-IN" dirty="0"/>
          </a:p>
        </p:txBody>
      </p:sp>
      <p:sp>
        <p:nvSpPr>
          <p:cNvPr id="4" name="TextBox 3"/>
          <p:cNvSpPr txBox="1"/>
          <p:nvPr/>
        </p:nvSpPr>
        <p:spPr>
          <a:xfrm>
            <a:off x="7782700" y="4683210"/>
            <a:ext cx="679621" cy="370702"/>
          </a:xfrm>
          <a:prstGeom prst="rect">
            <a:avLst/>
          </a:prstGeom>
          <a:noFill/>
          <a:ln w="38100">
            <a:solidFill>
              <a:srgbClr val="00B050"/>
            </a:solidFill>
          </a:ln>
        </p:spPr>
        <p:txBody>
          <a:bodyPr wrap="square" rtlCol="0">
            <a:spAutoFit/>
          </a:bodyPr>
          <a:lstStyle/>
          <a:p>
            <a:endParaRPr lang="en-IN" dirty="0"/>
          </a:p>
        </p:txBody>
      </p:sp>
      <p:sp>
        <p:nvSpPr>
          <p:cNvPr id="5" name="TextBox 4"/>
          <p:cNvSpPr txBox="1"/>
          <p:nvPr/>
        </p:nvSpPr>
        <p:spPr>
          <a:xfrm>
            <a:off x="6866238" y="1890583"/>
            <a:ext cx="679621" cy="370702"/>
          </a:xfrm>
          <a:prstGeom prst="rect">
            <a:avLst/>
          </a:prstGeom>
          <a:noFill/>
          <a:ln w="38100">
            <a:solidFill>
              <a:srgbClr val="00B050"/>
            </a:solidFill>
          </a:ln>
        </p:spPr>
        <p:txBody>
          <a:bodyPr wrap="square" rtlCol="0">
            <a:spAutoFit/>
          </a:bodyPr>
          <a:lstStyle/>
          <a:p>
            <a:endParaRPr lang="en-IN" dirty="0"/>
          </a:p>
        </p:txBody>
      </p:sp>
      <p:sp>
        <p:nvSpPr>
          <p:cNvPr id="6" name="TextBox 5"/>
          <p:cNvSpPr txBox="1"/>
          <p:nvPr/>
        </p:nvSpPr>
        <p:spPr>
          <a:xfrm>
            <a:off x="5756189" y="3243649"/>
            <a:ext cx="679621" cy="370702"/>
          </a:xfrm>
          <a:prstGeom prst="rect">
            <a:avLst/>
          </a:prstGeom>
          <a:noFill/>
          <a:ln w="38100">
            <a:solidFill>
              <a:srgbClr val="00B050"/>
            </a:solidFill>
          </a:ln>
        </p:spPr>
        <p:txBody>
          <a:bodyPr wrap="square" rtlCol="0">
            <a:spAutoFit/>
          </a:bodyPr>
          <a:lstStyle/>
          <a:p>
            <a:endParaRPr lang="en-IN"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81928" y="1080224"/>
            <a:ext cx="11510072" cy="5016758"/>
          </a:xfrm>
          <a:prstGeom prst="rect">
            <a:avLst/>
          </a:prstGeom>
          <a:noFill/>
        </p:spPr>
        <p:txBody>
          <a:bodyPr wrap="square">
            <a:spAutoFit/>
          </a:bodyPr>
          <a:lstStyle/>
          <a:p>
            <a:r>
              <a:rPr lang="en-IN" sz="2000" b="1" dirty="0"/>
              <a:t>1. ResNet18 - </a:t>
            </a:r>
            <a:r>
              <a:rPr lang="en-IN" sz="2000" b="1" dirty="0" err="1"/>
              <a:t>lr</a:t>
            </a:r>
            <a:r>
              <a:rPr lang="en-IN" sz="2000" b="1" dirty="0"/>
              <a:t>=1e-4</a:t>
            </a:r>
            <a:endParaRPr lang="en-IN" sz="2000" b="0" dirty="0">
              <a:effectLst/>
            </a:endParaRPr>
          </a:p>
          <a:p>
            <a:pPr marL="742950" lvl="1" indent="-285750">
              <a:buFont typeface="Arial" panose="020B0604020202020204" pitchFamily="34" charset="0"/>
              <a:buChar char="•"/>
            </a:pPr>
            <a:r>
              <a:rPr lang="en-IN" sz="2000" b="1" dirty="0"/>
              <a:t>Test Accuracy: 60.8%, Validation Accuracy: 42.2%</a:t>
            </a:r>
            <a:endParaRPr lang="en-IN" sz="2000" b="0" dirty="0">
              <a:effectLst/>
            </a:endParaRPr>
          </a:p>
          <a:p>
            <a:pPr marL="742950" lvl="1" indent="-285750">
              <a:buFont typeface="Arial" panose="020B0604020202020204" pitchFamily="34" charset="0"/>
              <a:buChar char="•"/>
            </a:pPr>
            <a:r>
              <a:rPr lang="en-IN" sz="2000" b="1" dirty="0"/>
              <a:t>Best OCA detection (0.72 F1) - crucial for minority class</a:t>
            </a:r>
            <a:endParaRPr lang="en-IN" sz="2000" b="0" dirty="0">
              <a:effectLst/>
            </a:endParaRPr>
          </a:p>
          <a:p>
            <a:pPr marL="742950" lvl="1" indent="-285750">
              <a:buFont typeface="Arial" panose="020B0604020202020204" pitchFamily="34" charset="0"/>
              <a:buChar char="•"/>
            </a:pPr>
            <a:r>
              <a:rPr lang="en-IN" sz="2000" b="1" dirty="0"/>
              <a:t>Good Healthy detection (0.72 F1)</a:t>
            </a:r>
            <a:br>
              <a:rPr lang="en-IN" sz="2000" b="0" dirty="0">
                <a:effectLst/>
              </a:rPr>
            </a:br>
            <a:endParaRPr lang="en-IN" sz="2000" b="0" dirty="0">
              <a:effectLst/>
            </a:endParaRPr>
          </a:p>
          <a:p>
            <a:r>
              <a:rPr lang="en-IN" sz="2000" b="1" dirty="0"/>
              <a:t>2. </a:t>
            </a:r>
            <a:r>
              <a:rPr lang="en-IN" sz="2000" b="1" dirty="0" err="1"/>
              <a:t>ConvNeXt</a:t>
            </a:r>
            <a:r>
              <a:rPr lang="en-IN" sz="2000" b="1" dirty="0"/>
              <a:t> - </a:t>
            </a:r>
            <a:r>
              <a:rPr lang="en-IN" sz="2000" b="1" dirty="0" err="1"/>
              <a:t>lr</a:t>
            </a:r>
            <a:r>
              <a:rPr lang="en-IN" sz="2000" b="1" dirty="0"/>
              <a:t>=1e-5 </a:t>
            </a:r>
            <a:endParaRPr lang="en-IN" sz="2000" b="0" dirty="0">
              <a:effectLst/>
            </a:endParaRPr>
          </a:p>
          <a:p>
            <a:pPr marL="742950" lvl="1" indent="-285750">
              <a:buFont typeface="Arial" panose="020B0604020202020204" pitchFamily="34" charset="0"/>
              <a:buChar char="•"/>
            </a:pPr>
            <a:r>
              <a:rPr lang="en-IN" sz="2000" b="1" dirty="0"/>
              <a:t>Test Accuracy: 59.5%, Validation Accuracy: 57.4%</a:t>
            </a:r>
            <a:endParaRPr lang="en-IN" sz="2000" b="0" dirty="0">
              <a:effectLst/>
            </a:endParaRPr>
          </a:p>
          <a:p>
            <a:pPr marL="742950" lvl="1" indent="-285750">
              <a:buFont typeface="Arial" panose="020B0604020202020204" pitchFamily="34" charset="0"/>
              <a:buChar char="•"/>
            </a:pPr>
            <a:r>
              <a:rPr lang="en-IN" sz="2000" b="1" dirty="0"/>
              <a:t>Best OPMD detection (0.56 F1)</a:t>
            </a:r>
            <a:endParaRPr lang="en-IN" sz="2000" b="0" dirty="0">
              <a:effectLst/>
            </a:endParaRPr>
          </a:p>
          <a:p>
            <a:pPr marL="742950" lvl="1" indent="-285750">
              <a:buFont typeface="Arial" panose="020B0604020202020204" pitchFamily="34" charset="0"/>
              <a:buChar char="•"/>
            </a:pPr>
            <a:r>
              <a:rPr lang="en-IN" sz="2000" b="1" dirty="0"/>
              <a:t>Highest validation accuracy (57.4%) - best generalization</a:t>
            </a:r>
            <a:endParaRPr lang="en-IN" sz="2000" b="0" dirty="0">
              <a:effectLst/>
            </a:endParaRPr>
          </a:p>
          <a:p>
            <a:endParaRPr lang="en-IN" sz="2000" b="0" dirty="0">
              <a:effectLst/>
            </a:endParaRPr>
          </a:p>
          <a:p>
            <a:r>
              <a:rPr lang="en-IN" sz="2000" b="1" dirty="0"/>
              <a:t>3. ViT_b_16 - </a:t>
            </a:r>
            <a:r>
              <a:rPr lang="en-IN" sz="2000" b="1" dirty="0" err="1"/>
              <a:t>lr</a:t>
            </a:r>
            <a:r>
              <a:rPr lang="en-IN" sz="2000" b="1" dirty="0"/>
              <a:t>=1e-5 </a:t>
            </a:r>
            <a:endParaRPr lang="en-IN" sz="2000" b="0" dirty="0">
              <a:effectLst/>
            </a:endParaRPr>
          </a:p>
          <a:p>
            <a:pPr marL="742950" lvl="1" indent="-285750">
              <a:buFont typeface="Arial" panose="020B0604020202020204" pitchFamily="34" charset="0"/>
              <a:buChar char="•"/>
            </a:pPr>
            <a:r>
              <a:rPr lang="en-IN" sz="2000" b="1" dirty="0"/>
              <a:t>Test Accuracy: 60.4%, Validation Accuracy: 38.4% </a:t>
            </a:r>
            <a:endParaRPr lang="en-IN" sz="2000" b="0" dirty="0">
              <a:effectLst/>
            </a:endParaRPr>
          </a:p>
          <a:p>
            <a:pPr marL="742950" lvl="1" indent="-285750">
              <a:buFont typeface="Arial" panose="020B0604020202020204" pitchFamily="34" charset="0"/>
              <a:buChar char="•"/>
            </a:pPr>
            <a:r>
              <a:rPr lang="en-IN" sz="2000" b="1" dirty="0"/>
              <a:t>Strong OCA detection (0.68 F1)</a:t>
            </a:r>
            <a:endParaRPr lang="en-IN" sz="2000" b="0" dirty="0">
              <a:effectLst/>
            </a:endParaRPr>
          </a:p>
          <a:p>
            <a:pPr marL="742950" lvl="1" indent="-285750">
              <a:buFont typeface="Arial" panose="020B0604020202020204" pitchFamily="34" charset="0"/>
              <a:buChar char="•"/>
            </a:pPr>
            <a:r>
              <a:rPr lang="en-IN" sz="2000" b="1" dirty="0"/>
              <a:t>Best Healthy detection (0.76 F1)</a:t>
            </a:r>
            <a:endParaRPr lang="en-IN" sz="2000" b="0" dirty="0">
              <a:effectLst/>
            </a:endParaRPr>
          </a:p>
          <a:p>
            <a:br>
              <a:rPr lang="en-IN" sz="2000" dirty="0"/>
            </a:br>
            <a:endParaRPr lang="en-IN" sz="2000" b="0" dirty="0">
              <a:effectLst/>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p:nvPr/>
        </p:nvSpPr>
        <p:spPr>
          <a:xfrm>
            <a:off x="654908" y="1013678"/>
            <a:ext cx="2446638" cy="449318"/>
          </a:xfrm>
          <a:prstGeom prst="rect">
            <a:avLst/>
          </a:prstGeom>
          <a:ln>
            <a:solidFill>
              <a:schemeClr val="tx1"/>
            </a:solidFill>
          </a:ln>
        </p:spPr>
        <p:txBody>
          <a:bodyPr vert="horz" lIns="91440" tIns="45720" rIns="91440" bIns="45720" rtlCol="0" anchor="b">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800" b="1" dirty="0">
                <a:latin typeface="+mn-lt"/>
              </a:rPr>
              <a:t>Experiment - 4</a:t>
            </a:r>
            <a:endParaRPr lang="en-IN" sz="2800" b="1" dirty="0">
              <a:latin typeface="+mn-lt"/>
            </a:endParaRPr>
          </a:p>
        </p:txBody>
      </p:sp>
      <p:sp>
        <p:nvSpPr>
          <p:cNvPr id="7" name="TextBox 6"/>
          <p:cNvSpPr txBox="1"/>
          <p:nvPr/>
        </p:nvSpPr>
        <p:spPr>
          <a:xfrm>
            <a:off x="181315" y="1902797"/>
            <a:ext cx="12249582" cy="5632311"/>
          </a:xfrm>
          <a:prstGeom prst="rect">
            <a:avLst/>
          </a:prstGeom>
          <a:noFill/>
        </p:spPr>
        <p:txBody>
          <a:bodyPr wrap="square">
            <a:spAutoFit/>
          </a:bodyPr>
          <a:lstStyle/>
          <a:p>
            <a:pPr marL="742950" lvl="1" indent="-285750">
              <a:buFont typeface="Arial" panose="020B0604020202020204" pitchFamily="34" charset="0"/>
              <a:buChar char="•"/>
            </a:pPr>
            <a:r>
              <a:rPr lang="en-IN" sz="2000" b="1" dirty="0"/>
              <a:t>Dataset: </a:t>
            </a:r>
            <a:endParaRPr lang="en-IN" sz="2000" b="1" dirty="0"/>
          </a:p>
          <a:p>
            <a:pPr marL="1200150" lvl="2" indent="-285750">
              <a:buFont typeface="Arial" panose="020B0604020202020204" pitchFamily="34" charset="0"/>
              <a:buChar char="•"/>
            </a:pPr>
            <a:r>
              <a:rPr lang="en-IN" sz="2000" b="1" dirty="0" err="1"/>
              <a:t>Piyarathne</a:t>
            </a:r>
            <a:r>
              <a:rPr lang="en-IN" sz="2000" b="1" dirty="0"/>
              <a:t> et al_2024_Zenodo OPMD &amp; OC dataset(3000 Images) + extra OPMD images(874 Images)</a:t>
            </a:r>
            <a:endParaRPr lang="en-IN" sz="2000" b="1" dirty="0"/>
          </a:p>
          <a:p>
            <a:pPr lvl="1"/>
            <a:endParaRPr lang="en-US" sz="2000" b="1" dirty="0">
              <a:solidFill>
                <a:srgbClr val="000000"/>
              </a:solidFill>
              <a:latin typeface="Arial" panose="020B0604020202020204" pitchFamily="34" charset="0"/>
            </a:endParaRPr>
          </a:p>
          <a:p>
            <a:pPr marL="742950" lvl="1" indent="-285750">
              <a:buFont typeface="Arial" panose="020B0604020202020204" pitchFamily="34" charset="0"/>
              <a:buChar char="•"/>
            </a:pPr>
            <a:r>
              <a:rPr lang="en-US" sz="2000" b="1" i="0" u="none" strike="noStrike" dirty="0">
                <a:solidFill>
                  <a:srgbClr val="000000"/>
                </a:solidFill>
                <a:effectLst/>
                <a:latin typeface="Arial" panose="020B0604020202020204" pitchFamily="34" charset="0"/>
              </a:rPr>
              <a:t>Input: </a:t>
            </a:r>
            <a:r>
              <a:rPr lang="en-US" sz="2000" b="1" dirty="0"/>
              <a:t>Oral cavity parts tight cropped from the Images and then resized to 224x224 </a:t>
            </a:r>
            <a:endParaRPr lang="en-US" sz="2000" b="1" dirty="0"/>
          </a:p>
          <a:p>
            <a:pPr lvl="1"/>
            <a:endParaRPr lang="en-US" sz="2000" b="1" dirty="0"/>
          </a:p>
          <a:p>
            <a:pPr marL="742950" lvl="1" indent="-285750">
              <a:buFont typeface="Arial" panose="020B0604020202020204" pitchFamily="34" charset="0"/>
              <a:buChar char="•"/>
            </a:pPr>
            <a:r>
              <a:rPr lang="en-US" sz="2000" b="1" dirty="0"/>
              <a:t>ImageNet Statistics (Mean, Standard Deviation)  is used </a:t>
            </a:r>
            <a:endParaRPr lang="en-US" sz="2000" b="1" dirty="0"/>
          </a:p>
          <a:p>
            <a:pPr lvl="1"/>
            <a:endParaRPr lang="en-US" sz="2000" b="1" dirty="0"/>
          </a:p>
          <a:p>
            <a:pPr marL="628650" lvl="1" indent="-171450" fontAlgn="base">
              <a:buFont typeface="Arial" panose="020B0604020202020204" pitchFamily="34" charset="0"/>
              <a:buChar char="•"/>
            </a:pPr>
            <a:r>
              <a:rPr lang="en-IN" sz="2000" b="1" dirty="0">
                <a:solidFill>
                  <a:srgbClr val="000000"/>
                </a:solidFill>
              </a:rPr>
              <a:t>D</a:t>
            </a:r>
            <a:r>
              <a:rPr lang="en-IN" sz="2000" b="1" i="0" u="none" strike="noStrike" dirty="0">
                <a:solidFill>
                  <a:srgbClr val="000000"/>
                </a:solidFill>
                <a:effectLst/>
              </a:rPr>
              <a:t>ata transforms on the train set</a:t>
            </a:r>
            <a:endParaRPr lang="en-IN" sz="2000" b="1" i="0" u="none" strike="noStrike" dirty="0">
              <a:solidFill>
                <a:srgbClr val="000000"/>
              </a:solidFill>
              <a:effectLst/>
            </a:endParaRPr>
          </a:p>
          <a:p>
            <a:pPr marL="1200150" lvl="2" indent="-285750" fontAlgn="base">
              <a:buFont typeface="Arial" panose="020B0604020202020204" pitchFamily="34" charset="0"/>
              <a:buChar char="•"/>
            </a:pPr>
            <a:r>
              <a:rPr lang="en-IN" sz="2000" b="1" dirty="0" err="1">
                <a:solidFill>
                  <a:srgbClr val="000000"/>
                </a:solidFill>
              </a:rPr>
              <a:t>RandomHorizontalFlip</a:t>
            </a:r>
            <a:r>
              <a:rPr lang="en-IN" sz="2000" b="1" dirty="0">
                <a:solidFill>
                  <a:srgbClr val="000000"/>
                </a:solidFill>
              </a:rPr>
              <a:t>(p=0.5),</a:t>
            </a:r>
            <a:endParaRPr lang="en-IN" sz="2000" b="1" dirty="0">
              <a:solidFill>
                <a:srgbClr val="000000"/>
              </a:solidFill>
            </a:endParaRPr>
          </a:p>
          <a:p>
            <a:pPr marL="1200150" lvl="2" indent="-285750" fontAlgn="base">
              <a:buFont typeface="Arial" panose="020B0604020202020204" pitchFamily="34" charset="0"/>
              <a:buChar char="•"/>
            </a:pPr>
            <a:r>
              <a:rPr lang="en-IN" sz="2000" b="1" dirty="0" err="1">
                <a:solidFill>
                  <a:srgbClr val="000000"/>
                </a:solidFill>
              </a:rPr>
              <a:t>RandomRotation</a:t>
            </a:r>
            <a:r>
              <a:rPr lang="en-IN" sz="2000" b="1" dirty="0">
                <a:solidFill>
                  <a:srgbClr val="000000"/>
                </a:solidFill>
              </a:rPr>
              <a:t>(degrees=10),</a:t>
            </a:r>
            <a:endParaRPr lang="en-IN" sz="2000" b="1" dirty="0">
              <a:solidFill>
                <a:srgbClr val="000000"/>
              </a:solidFill>
            </a:endParaRPr>
          </a:p>
          <a:p>
            <a:pPr marL="1200150" lvl="2" indent="-285750" fontAlgn="base">
              <a:buFont typeface="Arial" panose="020B0604020202020204" pitchFamily="34" charset="0"/>
              <a:buChar char="•"/>
            </a:pPr>
            <a:r>
              <a:rPr lang="en-IN" sz="2000" b="1" dirty="0" err="1">
                <a:solidFill>
                  <a:srgbClr val="000000"/>
                </a:solidFill>
              </a:rPr>
              <a:t>ToTensor</a:t>
            </a:r>
            <a:r>
              <a:rPr lang="en-IN" sz="2000" b="1" dirty="0">
                <a:solidFill>
                  <a:srgbClr val="000000"/>
                </a:solidFill>
              </a:rPr>
              <a:t>(),</a:t>
            </a:r>
            <a:endParaRPr lang="en-IN" sz="2000" b="1" dirty="0">
              <a:solidFill>
                <a:srgbClr val="000000"/>
              </a:solidFill>
            </a:endParaRPr>
          </a:p>
          <a:p>
            <a:pPr marL="1200150" lvl="2" indent="-285750" fontAlgn="base">
              <a:buFont typeface="Arial" panose="020B0604020202020204" pitchFamily="34" charset="0"/>
              <a:buChar char="•"/>
            </a:pPr>
            <a:r>
              <a:rPr lang="en-IN" sz="2000" b="1" dirty="0">
                <a:solidFill>
                  <a:srgbClr val="000000"/>
                </a:solidFill>
              </a:rPr>
              <a:t>Normalize(</a:t>
            </a:r>
            <a:r>
              <a:rPr lang="en-IN" sz="2000" b="1" dirty="0"/>
              <a:t>mean=</a:t>
            </a:r>
            <a:r>
              <a:rPr lang="en-IN" sz="2000" b="1" dirty="0" err="1"/>
              <a:t>imagenet_mean</a:t>
            </a:r>
            <a:endParaRPr lang="en-IN" sz="2000" b="1" dirty="0"/>
          </a:p>
          <a:p>
            <a:pPr fontAlgn="base"/>
            <a:r>
              <a:rPr lang="en-IN" sz="2000" b="1" dirty="0"/>
              <a:t>                            		std=</a:t>
            </a:r>
            <a:r>
              <a:rPr lang="en-IN" sz="2000" b="1" dirty="0" err="1"/>
              <a:t>imagenet_std</a:t>
            </a:r>
            <a:r>
              <a:rPr lang="en-IN" sz="2000" b="1" dirty="0"/>
              <a:t>) ])</a:t>
            </a:r>
            <a:endParaRPr lang="en-IN" sz="2000" b="1" dirty="0"/>
          </a:p>
          <a:p>
            <a:br>
              <a:rPr lang="en-US" sz="2000" dirty="0"/>
            </a:br>
            <a:endParaRPr lang="en-IN" sz="2000" b="1" dirty="0"/>
          </a:p>
          <a:p>
            <a:pPr lvl="1"/>
            <a:endParaRPr lang="en-US" sz="2000" b="0" dirty="0">
              <a:effectLst/>
            </a:endParaRPr>
          </a:p>
          <a:p>
            <a:pPr lvl="1"/>
            <a:br>
              <a:rPr lang="en-US" sz="2000" dirty="0"/>
            </a:br>
            <a:endParaRPr lang="en-US" sz="2000" b="1" i="0" u="none" strike="noStrike" dirty="0">
              <a:solidFill>
                <a:srgbClr val="000000"/>
              </a:solidFill>
              <a:effectLst/>
              <a:latin typeface="Arial" panose="020B06040202020202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42738" y="1124465"/>
            <a:ext cx="11506524" cy="499213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3266302" y="2916194"/>
            <a:ext cx="679621" cy="370702"/>
          </a:xfrm>
          <a:prstGeom prst="rect">
            <a:avLst/>
          </a:prstGeom>
          <a:noFill/>
          <a:ln w="38100">
            <a:solidFill>
              <a:srgbClr val="00B050"/>
            </a:solidFill>
          </a:ln>
        </p:spPr>
        <p:txBody>
          <a:bodyPr wrap="square" rtlCol="0">
            <a:spAutoFit/>
          </a:bodyPr>
          <a:lstStyle/>
          <a:p>
            <a:endParaRPr lang="en-IN" dirty="0"/>
          </a:p>
        </p:txBody>
      </p:sp>
      <p:sp>
        <p:nvSpPr>
          <p:cNvPr id="3" name="TextBox 2"/>
          <p:cNvSpPr txBox="1"/>
          <p:nvPr/>
        </p:nvSpPr>
        <p:spPr>
          <a:xfrm>
            <a:off x="4477265" y="2421923"/>
            <a:ext cx="679621" cy="370702"/>
          </a:xfrm>
          <a:prstGeom prst="rect">
            <a:avLst/>
          </a:prstGeom>
          <a:noFill/>
          <a:ln w="38100">
            <a:solidFill>
              <a:srgbClr val="00B050"/>
            </a:solidFill>
          </a:ln>
        </p:spPr>
        <p:txBody>
          <a:bodyPr wrap="square" rtlCol="0">
            <a:spAutoFit/>
          </a:bodyPr>
          <a:lstStyle/>
          <a:p>
            <a:endParaRPr lang="en-IN"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81928" y="462385"/>
            <a:ext cx="11510072" cy="5324535"/>
          </a:xfrm>
          <a:prstGeom prst="rect">
            <a:avLst/>
          </a:prstGeom>
          <a:noFill/>
        </p:spPr>
        <p:txBody>
          <a:bodyPr wrap="square">
            <a:spAutoFit/>
          </a:bodyPr>
          <a:lstStyle/>
          <a:p>
            <a:br>
              <a:rPr lang="en-IN" sz="2000" b="0" dirty="0">
                <a:effectLst/>
              </a:rPr>
            </a:br>
            <a:endParaRPr lang="en-IN" sz="2000" b="0" dirty="0">
              <a:effectLst/>
            </a:endParaRPr>
          </a:p>
          <a:p>
            <a:r>
              <a:rPr lang="en-IN" sz="2000" b="1" dirty="0"/>
              <a:t>1. ResNet18 - </a:t>
            </a:r>
            <a:r>
              <a:rPr lang="en-IN" sz="2000" b="1" dirty="0" err="1"/>
              <a:t>lr</a:t>
            </a:r>
            <a:r>
              <a:rPr lang="en-IN" sz="2000" b="1" dirty="0"/>
              <a:t>=1e-4</a:t>
            </a:r>
            <a:endParaRPr lang="en-IN" sz="2000" b="0" dirty="0">
              <a:effectLst/>
            </a:endParaRPr>
          </a:p>
          <a:p>
            <a:pPr marL="742950" lvl="1" indent="-285750">
              <a:buFont typeface="Arial" panose="020B0604020202020204" pitchFamily="34" charset="0"/>
              <a:buChar char="•"/>
            </a:pPr>
            <a:r>
              <a:rPr lang="en-IN" sz="2000" b="1" dirty="0"/>
              <a:t>Test Accuracy: 61.7% , Validation Accuracy: 45.2%</a:t>
            </a:r>
            <a:endParaRPr lang="en-IN" sz="2000" b="0" dirty="0">
              <a:effectLst/>
            </a:endParaRPr>
          </a:p>
          <a:p>
            <a:pPr marL="742950" lvl="1" indent="-285750">
              <a:buFont typeface="Arial" panose="020B0604020202020204" pitchFamily="34" charset="0"/>
              <a:buChar char="•"/>
            </a:pPr>
            <a:r>
              <a:rPr lang="en-IN" sz="2000" b="1" dirty="0"/>
              <a:t>Most Balanced Performance - all classes have reasonable F1 scores</a:t>
            </a:r>
            <a:br>
              <a:rPr lang="en-IN" sz="2000" b="0" dirty="0">
                <a:effectLst/>
              </a:rPr>
            </a:br>
            <a:endParaRPr lang="en-IN" sz="2000" b="0" dirty="0">
              <a:effectLst/>
            </a:endParaRPr>
          </a:p>
          <a:p>
            <a:r>
              <a:rPr lang="en-IN" sz="2000" b="1" dirty="0"/>
              <a:t>2. ViT_b_16 - </a:t>
            </a:r>
            <a:r>
              <a:rPr lang="en-IN" sz="2000" b="1" dirty="0" err="1"/>
              <a:t>lr</a:t>
            </a:r>
            <a:r>
              <a:rPr lang="en-IN" sz="2000" b="1" dirty="0"/>
              <a:t>=1e-5</a:t>
            </a:r>
            <a:endParaRPr lang="en-IN" sz="2000" b="0" dirty="0">
              <a:effectLst/>
            </a:endParaRPr>
          </a:p>
          <a:p>
            <a:pPr marL="742950" lvl="1" indent="-285750">
              <a:buFont typeface="Arial" panose="020B0604020202020204" pitchFamily="34" charset="0"/>
              <a:buChar char="•"/>
            </a:pPr>
            <a:r>
              <a:rPr lang="en-IN" sz="2000" b="1" dirty="0"/>
              <a:t>Test Accuracy: 59.9%, Validation Accuracy: 38.4%</a:t>
            </a:r>
            <a:endParaRPr lang="en-IN" sz="2000" b="0" dirty="0">
              <a:effectLst/>
            </a:endParaRPr>
          </a:p>
          <a:p>
            <a:pPr marL="742950" lvl="1" indent="-285750">
              <a:buFont typeface="Arial" panose="020B0604020202020204" pitchFamily="34" charset="0"/>
              <a:buChar char="•"/>
            </a:pPr>
            <a:r>
              <a:rPr lang="en-IN" sz="2000" b="1" dirty="0"/>
              <a:t>Best OCA detection (0.67 F1)</a:t>
            </a:r>
            <a:endParaRPr lang="en-IN" sz="2000" b="0" dirty="0">
              <a:effectLst/>
            </a:endParaRPr>
          </a:p>
          <a:p>
            <a:pPr marL="742950" lvl="1" indent="-285750">
              <a:buFont typeface="Arial" panose="020B0604020202020204" pitchFamily="34" charset="0"/>
              <a:buChar char="•"/>
            </a:pPr>
            <a:r>
              <a:rPr lang="en-IN" sz="2000" b="1" dirty="0"/>
              <a:t>Best Healthy detection (0.76 F1)</a:t>
            </a:r>
            <a:br>
              <a:rPr lang="en-IN" sz="2000" b="0" dirty="0">
                <a:effectLst/>
              </a:rPr>
            </a:br>
            <a:endParaRPr lang="en-IN" sz="2000" b="0" dirty="0">
              <a:effectLst/>
            </a:endParaRPr>
          </a:p>
          <a:p>
            <a:r>
              <a:rPr lang="en-IN" sz="2000" b="1" dirty="0"/>
              <a:t>3. ResNet50 - </a:t>
            </a:r>
            <a:r>
              <a:rPr lang="en-IN" sz="2000" b="1" dirty="0" err="1"/>
              <a:t>lr</a:t>
            </a:r>
            <a:r>
              <a:rPr lang="en-IN" sz="2000" b="1" dirty="0"/>
              <a:t>=1e-3</a:t>
            </a:r>
            <a:endParaRPr lang="en-IN" sz="2000" b="0" dirty="0">
              <a:effectLst/>
            </a:endParaRPr>
          </a:p>
          <a:p>
            <a:pPr marL="742950" lvl="1" indent="-285750">
              <a:buFont typeface="Arial" panose="020B0604020202020204" pitchFamily="34" charset="0"/>
              <a:buChar char="•"/>
            </a:pPr>
            <a:r>
              <a:rPr lang="en-IN" sz="2000" b="1" dirty="0"/>
              <a:t>Test Accuracy: 55.9% , Validation Accuracy: 51.1%</a:t>
            </a:r>
            <a:endParaRPr lang="en-IN" sz="2000" b="0" dirty="0">
              <a:effectLst/>
            </a:endParaRPr>
          </a:p>
          <a:p>
            <a:pPr marL="742950" lvl="1" indent="-285750">
              <a:buFont typeface="Arial" panose="020B0604020202020204" pitchFamily="34" charset="0"/>
              <a:buChar char="•"/>
            </a:pPr>
            <a:r>
              <a:rPr lang="en-IN" sz="2000" b="1" dirty="0"/>
              <a:t>Most consistent across all classes – similar F1 scores across all classes</a:t>
            </a:r>
            <a:endParaRPr lang="en-IN" sz="2000" b="1" dirty="0"/>
          </a:p>
          <a:p>
            <a:pPr marL="742950" lvl="1" indent="-285750">
              <a:buFont typeface="Arial" panose="020B0604020202020204" pitchFamily="34" charset="0"/>
              <a:buChar char="•"/>
            </a:pPr>
            <a:r>
              <a:rPr lang="en-IN" sz="2000" b="1" dirty="0">
                <a:effectLst/>
              </a:rPr>
              <a:t>Best generalization</a:t>
            </a:r>
            <a:endParaRPr lang="en-IN" sz="2000" b="0" dirty="0">
              <a:effectLst/>
            </a:endParaRPr>
          </a:p>
          <a:p>
            <a:br>
              <a:rPr lang="en-IN" sz="2000" dirty="0"/>
            </a:br>
            <a:endParaRPr lang="en-IN" sz="2000" b="0" dirty="0">
              <a:effectLst/>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3916556" y="108307"/>
            <a:ext cx="4111752" cy="70713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400" b="1" dirty="0">
                <a:latin typeface="+mn-lt"/>
              </a:rPr>
              <a:t>Conclusion </a:t>
            </a:r>
            <a:endParaRPr lang="en-IN" sz="4400" b="1" dirty="0">
              <a:latin typeface="+mn-lt"/>
            </a:endParaRPr>
          </a:p>
        </p:txBody>
      </p:sp>
      <p:pic>
        <p:nvPicPr>
          <p:cNvPr id="3"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74388" y="2369929"/>
            <a:ext cx="10043224" cy="425815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4727164" y="5733534"/>
            <a:ext cx="679621" cy="370702"/>
          </a:xfrm>
          <a:prstGeom prst="rect">
            <a:avLst/>
          </a:prstGeom>
          <a:noFill/>
          <a:ln w="38100">
            <a:solidFill>
              <a:srgbClr val="00B050"/>
            </a:solidFill>
          </a:ln>
        </p:spPr>
        <p:txBody>
          <a:bodyPr wrap="square" rtlCol="0">
            <a:spAutoFit/>
          </a:bodyPr>
          <a:lstStyle/>
          <a:p>
            <a:endParaRPr lang="en-IN" dirty="0"/>
          </a:p>
        </p:txBody>
      </p:sp>
      <p:sp>
        <p:nvSpPr>
          <p:cNvPr id="5" name="TextBox 4"/>
          <p:cNvSpPr txBox="1"/>
          <p:nvPr/>
        </p:nvSpPr>
        <p:spPr>
          <a:xfrm>
            <a:off x="3628765" y="5733534"/>
            <a:ext cx="679621" cy="370702"/>
          </a:xfrm>
          <a:prstGeom prst="rect">
            <a:avLst/>
          </a:prstGeom>
          <a:noFill/>
          <a:ln w="38100">
            <a:solidFill>
              <a:srgbClr val="00B050"/>
            </a:solidFill>
          </a:ln>
        </p:spPr>
        <p:txBody>
          <a:bodyPr wrap="square" rtlCol="0">
            <a:spAutoFit/>
          </a:bodyPr>
          <a:lstStyle/>
          <a:p>
            <a:endParaRPr lang="en-IN" dirty="0"/>
          </a:p>
        </p:txBody>
      </p:sp>
      <p:sp>
        <p:nvSpPr>
          <p:cNvPr id="6" name="TextBox 5"/>
          <p:cNvSpPr txBox="1"/>
          <p:nvPr/>
        </p:nvSpPr>
        <p:spPr>
          <a:xfrm>
            <a:off x="9635514" y="5721176"/>
            <a:ext cx="679621" cy="370702"/>
          </a:xfrm>
          <a:prstGeom prst="rect">
            <a:avLst/>
          </a:prstGeom>
          <a:noFill/>
          <a:ln w="38100">
            <a:solidFill>
              <a:srgbClr val="00B050"/>
            </a:solidFill>
          </a:ln>
        </p:spPr>
        <p:txBody>
          <a:bodyPr wrap="square" rtlCol="0">
            <a:spAutoFit/>
          </a:bodyPr>
          <a:lstStyle/>
          <a:p>
            <a:endParaRPr lang="en-IN" dirty="0"/>
          </a:p>
        </p:txBody>
      </p:sp>
      <p:sp>
        <p:nvSpPr>
          <p:cNvPr id="7" name="TextBox 6"/>
          <p:cNvSpPr txBox="1"/>
          <p:nvPr/>
        </p:nvSpPr>
        <p:spPr>
          <a:xfrm>
            <a:off x="6878595" y="4950940"/>
            <a:ext cx="679621" cy="370702"/>
          </a:xfrm>
          <a:prstGeom prst="rect">
            <a:avLst/>
          </a:prstGeom>
          <a:noFill/>
          <a:ln w="38100">
            <a:solidFill>
              <a:srgbClr val="00B050"/>
            </a:solidFill>
          </a:ln>
        </p:spPr>
        <p:txBody>
          <a:bodyPr wrap="square" rtlCol="0">
            <a:spAutoFit/>
          </a:bodyPr>
          <a:lstStyle/>
          <a:p>
            <a:endParaRPr lang="en-IN" dirty="0"/>
          </a:p>
        </p:txBody>
      </p:sp>
      <p:sp>
        <p:nvSpPr>
          <p:cNvPr id="8" name="TextBox 7"/>
          <p:cNvSpPr txBox="1"/>
          <p:nvPr/>
        </p:nvSpPr>
        <p:spPr>
          <a:xfrm>
            <a:off x="7641944" y="5733534"/>
            <a:ext cx="679621" cy="370702"/>
          </a:xfrm>
          <a:prstGeom prst="rect">
            <a:avLst/>
          </a:prstGeom>
          <a:noFill/>
          <a:ln w="38100">
            <a:solidFill>
              <a:srgbClr val="00B050"/>
            </a:solidFill>
          </a:ln>
        </p:spPr>
        <p:txBody>
          <a:bodyPr wrap="square" rtlCol="0">
            <a:spAutoFit/>
          </a:bodyPr>
          <a:lstStyle/>
          <a:p>
            <a:endParaRPr lang="en-IN" dirty="0"/>
          </a:p>
        </p:txBody>
      </p:sp>
      <p:sp>
        <p:nvSpPr>
          <p:cNvPr id="9" name="TextBox 8"/>
          <p:cNvSpPr txBox="1"/>
          <p:nvPr/>
        </p:nvSpPr>
        <p:spPr>
          <a:xfrm>
            <a:off x="5972432" y="3612290"/>
            <a:ext cx="679621" cy="370702"/>
          </a:xfrm>
          <a:prstGeom prst="rect">
            <a:avLst/>
          </a:prstGeom>
          <a:noFill/>
          <a:ln w="38100">
            <a:solidFill>
              <a:srgbClr val="00B050"/>
            </a:solidFill>
          </a:ln>
        </p:spPr>
        <p:txBody>
          <a:bodyPr wrap="square" rtlCol="0">
            <a:spAutoFit/>
          </a:bodyPr>
          <a:lstStyle/>
          <a:p>
            <a:endParaRPr lang="en-IN" dirty="0"/>
          </a:p>
        </p:txBody>
      </p:sp>
      <p:sp>
        <p:nvSpPr>
          <p:cNvPr id="10" name="TextBox 9"/>
          <p:cNvSpPr txBox="1"/>
          <p:nvPr/>
        </p:nvSpPr>
        <p:spPr>
          <a:xfrm>
            <a:off x="8537115" y="5708818"/>
            <a:ext cx="679621" cy="370702"/>
          </a:xfrm>
          <a:prstGeom prst="rect">
            <a:avLst/>
          </a:prstGeom>
          <a:noFill/>
          <a:ln w="38100">
            <a:solidFill>
              <a:srgbClr val="00B050"/>
            </a:solidFill>
          </a:ln>
        </p:spPr>
        <p:txBody>
          <a:bodyPr wrap="square" rtlCol="0">
            <a:spAutoFit/>
          </a:bodyPr>
          <a:lstStyle/>
          <a:p>
            <a:endParaRPr lang="en-IN" dirty="0"/>
          </a:p>
        </p:txBody>
      </p:sp>
      <p:sp>
        <p:nvSpPr>
          <p:cNvPr id="11" name="Title 1"/>
          <p:cNvSpPr txBox="1"/>
          <p:nvPr/>
        </p:nvSpPr>
        <p:spPr>
          <a:xfrm>
            <a:off x="469558" y="889479"/>
            <a:ext cx="11439534" cy="180429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342900" indent="-342900" algn="l">
              <a:buFont typeface="Arial" panose="020B0604020202020204" pitchFamily="34" charset="0"/>
              <a:buChar char="•"/>
            </a:pPr>
            <a:r>
              <a:rPr lang="en-IN" sz="2000" b="1" dirty="0">
                <a:latin typeface="+mn-lt"/>
              </a:rPr>
              <a:t>Training on the cropped oral cavity parts of the </a:t>
            </a:r>
            <a:r>
              <a:rPr lang="en-IN" sz="2000" b="1" dirty="0" err="1">
                <a:latin typeface="+mn-lt"/>
              </a:rPr>
              <a:t>Piyarathne</a:t>
            </a:r>
            <a:r>
              <a:rPr lang="en-IN" sz="2000" b="1" dirty="0">
                <a:latin typeface="+mn-lt"/>
              </a:rPr>
              <a:t> et al_2024_Zenodo OPMD dataset  gives the best validation, test accuracy and F1 scores </a:t>
            </a:r>
            <a:endParaRPr lang="en-IN" sz="2000" b="1" dirty="0">
              <a:latin typeface="+mn-lt"/>
            </a:endParaRPr>
          </a:p>
          <a:p>
            <a:pPr algn="l"/>
            <a:endParaRPr lang="en-IN" sz="2000" b="1" dirty="0">
              <a:latin typeface="+mn-lt"/>
            </a:endParaRPr>
          </a:p>
          <a:p>
            <a:pPr marL="342900" indent="-342900" algn="l">
              <a:buFont typeface="Arial" panose="020B0604020202020204" pitchFamily="34" charset="0"/>
              <a:buChar char="•"/>
            </a:pPr>
            <a:r>
              <a:rPr lang="en-IN" sz="2000" b="1" dirty="0">
                <a:latin typeface="+mn-lt"/>
              </a:rPr>
              <a:t>Best Architecture: </a:t>
            </a:r>
            <a:r>
              <a:rPr lang="en-IN" sz="2000" b="1" dirty="0" err="1">
                <a:latin typeface="+mn-lt"/>
              </a:rPr>
              <a:t>ConNeXt</a:t>
            </a:r>
            <a:r>
              <a:rPr lang="en-IN" sz="2000" b="1" dirty="0">
                <a:latin typeface="+mn-lt"/>
              </a:rPr>
              <a:t>  ( Learning rate: 1e-4, Optimizer: </a:t>
            </a:r>
            <a:r>
              <a:rPr lang="en-IN" sz="2000" b="1" dirty="0" err="1">
                <a:latin typeface="+mn-lt"/>
              </a:rPr>
              <a:t>AdamW</a:t>
            </a:r>
            <a:r>
              <a:rPr lang="en-IN" sz="2000" b="1" dirty="0">
                <a:latin typeface="+mn-lt"/>
              </a:rPr>
              <a:t>, Scheduler: </a:t>
            </a:r>
            <a:r>
              <a:rPr lang="en-IN" sz="2000" b="1" dirty="0" err="1">
                <a:latin typeface="+mn-lt"/>
              </a:rPr>
              <a:t>CosineAnnealingLR</a:t>
            </a:r>
            <a:r>
              <a:rPr lang="en-IN" sz="2000" b="1" dirty="0">
                <a:latin typeface="+mn-lt"/>
              </a:rPr>
              <a:t> )</a:t>
            </a:r>
            <a:endParaRPr lang="en-IN" sz="2000" b="1" dirty="0">
              <a:latin typeface="+mn-lt"/>
            </a:endParaRPr>
          </a:p>
          <a:p>
            <a:pPr marL="342900" indent="-342900" algn="l">
              <a:buFont typeface="Arial" panose="020B0604020202020204" pitchFamily="34" charset="0"/>
              <a:buChar char="•"/>
            </a:pPr>
            <a:endParaRPr lang="en-IN" sz="2000" b="1" dirty="0">
              <a:latin typeface="+mn-lt"/>
            </a:endParaRPr>
          </a:p>
          <a:p>
            <a:pPr marL="342900" indent="-342900" algn="l">
              <a:buFont typeface="Arial" panose="020B0604020202020204" pitchFamily="34" charset="0"/>
              <a:buChar char="•"/>
            </a:pPr>
            <a:endParaRPr lang="en-IN" sz="2000" b="1" dirty="0">
              <a:latin typeface="+mn-lt"/>
            </a:endParaRPr>
          </a:p>
        </p:txBody>
      </p:sp>
      <p:sp>
        <p:nvSpPr>
          <p:cNvPr id="13" name="TextBox 12"/>
          <p:cNvSpPr txBox="1"/>
          <p:nvPr/>
        </p:nvSpPr>
        <p:spPr>
          <a:xfrm>
            <a:off x="1307755" y="5721176"/>
            <a:ext cx="2007321" cy="358346"/>
          </a:xfrm>
          <a:prstGeom prst="rect">
            <a:avLst/>
          </a:prstGeom>
          <a:noFill/>
          <a:ln w="38100">
            <a:solidFill>
              <a:srgbClr val="00B050"/>
            </a:solidFill>
          </a:ln>
        </p:spPr>
        <p:txBody>
          <a:bodyPr wrap="square" rtlCol="0">
            <a:spAutoFit/>
          </a:bodyPr>
          <a:lstStyle/>
          <a:p>
            <a:endParaRPr lang="en-IN"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4040124" y="341377"/>
            <a:ext cx="4111752" cy="707135"/>
          </a:xfrm>
          <a:prstGeom prst="rect">
            <a:avLst/>
          </a:prstGeom>
        </p:spPr>
        <p:txBody>
          <a:bodyPr vert="horz" lIns="91440" tIns="45720" rIns="91440" bIns="45720" rtlCol="0" anchor="b">
            <a:normAutofit fontScale="8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b="1" dirty="0"/>
              <a:t>Future Work </a:t>
            </a:r>
            <a:endParaRPr lang="en-IN" b="1" dirty="0"/>
          </a:p>
        </p:txBody>
      </p:sp>
      <p:sp>
        <p:nvSpPr>
          <p:cNvPr id="3" name="Title 1"/>
          <p:cNvSpPr txBox="1"/>
          <p:nvPr/>
        </p:nvSpPr>
        <p:spPr>
          <a:xfrm>
            <a:off x="376233" y="-1631091"/>
            <a:ext cx="11439534" cy="750055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342900" indent="-342900" algn="l">
              <a:lnSpc>
                <a:spcPct val="150000"/>
              </a:lnSpc>
              <a:buFont typeface="Arial" panose="020B0604020202020204" pitchFamily="34" charset="0"/>
              <a:buChar char="•"/>
            </a:pPr>
            <a:endParaRPr lang="en-IN" sz="2000" b="1" dirty="0">
              <a:latin typeface="+mn-lt"/>
            </a:endParaRPr>
          </a:p>
          <a:p>
            <a:pPr marL="342900" indent="-342900" algn="l">
              <a:lnSpc>
                <a:spcPct val="150000"/>
              </a:lnSpc>
              <a:buFont typeface="Arial" panose="020B0604020202020204" pitchFamily="34" charset="0"/>
              <a:buChar char="•"/>
            </a:pPr>
            <a:endParaRPr lang="en-IN" sz="2000" b="1" dirty="0">
              <a:latin typeface="+mn-lt"/>
            </a:endParaRPr>
          </a:p>
          <a:p>
            <a:pPr marL="342900" indent="-342900" algn="l">
              <a:lnSpc>
                <a:spcPct val="150000"/>
              </a:lnSpc>
              <a:buFont typeface="Arial" panose="020B0604020202020204" pitchFamily="34" charset="0"/>
              <a:buChar char="•"/>
            </a:pPr>
            <a:endParaRPr lang="en-IN" sz="2000" b="1" dirty="0">
              <a:latin typeface="+mn-lt"/>
            </a:endParaRPr>
          </a:p>
          <a:p>
            <a:pPr marL="342900" indent="-342900" algn="l">
              <a:lnSpc>
                <a:spcPct val="150000"/>
              </a:lnSpc>
              <a:buFont typeface="Arial" panose="020B0604020202020204" pitchFamily="34" charset="0"/>
              <a:buChar char="•"/>
            </a:pPr>
            <a:r>
              <a:rPr lang="en-IN" sz="2000" b="1" dirty="0">
                <a:latin typeface="+mn-lt"/>
              </a:rPr>
              <a:t>Integrate advanced segmentation models (U-Net, Mask R-CNN) to obtain more accurate and standardized oral cavity crops, reducing noise from imperfect masks</a:t>
            </a:r>
            <a:endParaRPr lang="en-IN" sz="2000" b="1" dirty="0">
              <a:latin typeface="+mn-lt"/>
            </a:endParaRPr>
          </a:p>
          <a:p>
            <a:pPr algn="l">
              <a:lnSpc>
                <a:spcPct val="150000"/>
              </a:lnSpc>
            </a:pPr>
            <a:endParaRPr lang="en-IN" sz="2000" b="1" dirty="0">
              <a:latin typeface="+mn-lt"/>
            </a:endParaRPr>
          </a:p>
          <a:p>
            <a:pPr marL="342900" indent="-342900" algn="l">
              <a:lnSpc>
                <a:spcPct val="150000"/>
              </a:lnSpc>
              <a:buFont typeface="Arial" panose="020B0604020202020204" pitchFamily="34" charset="0"/>
              <a:buChar char="•"/>
            </a:pPr>
            <a:r>
              <a:rPr lang="en-IN" sz="2000" b="1" dirty="0">
                <a:latin typeface="+mn-lt"/>
              </a:rPr>
              <a:t>Develop a clinically interpretable pipeline using Grad-CAM++, Score-CAM, and uncertainty maps to visualize lesion regions relevant to OCA/OPMD diagnosis</a:t>
            </a:r>
            <a:endParaRPr lang="en-IN" sz="2000" b="1" dirty="0">
              <a:latin typeface="+mn-lt"/>
            </a:endParaRPr>
          </a:p>
          <a:p>
            <a:pPr algn="l">
              <a:lnSpc>
                <a:spcPct val="150000"/>
              </a:lnSpc>
            </a:pPr>
            <a:endParaRPr lang="en-IN" sz="2000" b="1" dirty="0">
              <a:latin typeface="+mn-lt"/>
            </a:endParaRPr>
          </a:p>
          <a:p>
            <a:pPr marL="342900" indent="-342900" algn="l">
              <a:lnSpc>
                <a:spcPct val="150000"/>
              </a:lnSpc>
              <a:buFont typeface="Arial" panose="020B0604020202020204" pitchFamily="34" charset="0"/>
              <a:buChar char="•"/>
            </a:pPr>
            <a:r>
              <a:rPr lang="en-IN" sz="2000" b="1" dirty="0">
                <a:latin typeface="+mn-lt"/>
              </a:rPr>
              <a:t>Optimize for deployment by compressing models (quantization, pruning) and converting to mobile formats for portable oral screening devices.</a:t>
            </a:r>
            <a:endParaRPr lang="en-IN" sz="2000" b="1" dirty="0">
              <a:latin typeface="+mn-lt"/>
            </a:endParaRPr>
          </a:p>
          <a:p>
            <a:pPr algn="l">
              <a:lnSpc>
                <a:spcPct val="150000"/>
              </a:lnSpc>
            </a:pPr>
            <a:endParaRPr lang="en-IN" sz="2000" b="1" dirty="0">
              <a:latin typeface="+mn-lt"/>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3434643" y="1898328"/>
            <a:ext cx="5857638" cy="219175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7200" b="1" dirty="0"/>
              <a:t>THANK YOU</a:t>
            </a:r>
            <a:endParaRPr lang="en-IN" sz="7200" b="1"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11501</Words>
  <Application>WPS Presentation</Application>
  <PresentationFormat>Widescreen</PresentationFormat>
  <Paragraphs>414</Paragraphs>
  <Slides>33</Slides>
  <Notes>5</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33</vt:i4>
      </vt:variant>
    </vt:vector>
  </HeadingPairs>
  <TitlesOfParts>
    <vt:vector size="42" baseType="lpstr">
      <vt:lpstr>Arial</vt:lpstr>
      <vt:lpstr>SimSun</vt:lpstr>
      <vt:lpstr>Wingdings</vt:lpstr>
      <vt:lpstr>Arial Black</vt:lpstr>
      <vt:lpstr>Calibri Light</vt:lpstr>
      <vt:lpstr>Calibri</vt:lpstr>
      <vt:lpstr>Microsoft YaHei</vt:lpstr>
      <vt:lpstr>Arial Unicode MS</vt:lpstr>
      <vt:lpstr>Office Theme</vt:lpstr>
      <vt:lpstr>DH 307</vt:lpstr>
      <vt:lpstr>PowerPoint 演示文稿</vt:lpstr>
      <vt:lpstr>Literature Review</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Dataset  </vt:lpstr>
      <vt:lpstr>PowerPoint 演示文稿</vt:lpstr>
      <vt:lpstr>Methodology</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Shaik Rehna Afroz</dc:creator>
  <cp:lastModifiedBy>SHAIK REHNA AFROZ</cp:lastModifiedBy>
  <cp:revision>2</cp:revision>
  <dcterms:created xsi:type="dcterms:W3CDTF">2025-11-25T19:22:00Z</dcterms:created>
  <dcterms:modified xsi:type="dcterms:W3CDTF">2025-11-28T22:03:53Z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3E5550E5EED4407B9A92732ED147A848_12</vt:lpwstr>
  </property>
  <property fmtid="{D5CDD505-2E9C-101B-9397-08002B2CF9AE}" pid="3" name="KSOProductBuildVer">
    <vt:lpwstr>1033-12.2.0.23155</vt:lpwstr>
  </property>
</Properties>
</file>